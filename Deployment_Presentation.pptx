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6949440" y="-822960"/>
            <a:ext cx="3474720" cy="3474720"/>
          </a:xfrm>
          <a:prstGeom prst="ellipse">
            <a:avLst/>
          </a:prstGeom>
          <a:solidFill>
            <a:srgbClr val="FFFFFF">
              <a:alpha val="5000"/>
            </a:srgbClr>
          </a:solidFill>
          <a:ln w="12700">
            <a:solidFill>
              <a:srgbClr val="FFFFFF">
                <a:alpha val="5000"/>
              </a:srgbClr>
            </a:solidFill>
            <a:prstDash val="solid"/>
          </a:ln>
        </p:spPr>
      </p:sp>
      <p:sp>
        <p:nvSpPr>
          <p:cNvPr id="4" name="Shape 2"/>
          <p:cNvSpPr/>
          <p:nvPr/>
        </p:nvSpPr>
        <p:spPr>
          <a:xfrm>
            <a:off x="7772400" y="3291840"/>
            <a:ext cx="1828800" cy="1828800"/>
          </a:xfrm>
          <a:prstGeom prst="ellipse">
            <a:avLst/>
          </a:prstGeom>
          <a:solidFill>
            <a:srgbClr val="0D9488">
              <a:alpha val="15000"/>
            </a:srgbClr>
          </a:solidFill>
          <a:ln w="12700">
            <a:solidFill>
              <a:srgbClr val="0D9488">
                <a:alpha val="15000"/>
              </a:srgbClr>
            </a:solidFill>
            <a:prstDash val="solid"/>
          </a:ln>
        </p:spPr>
      </p:sp>
      <p:sp>
        <p:nvSpPr>
          <p:cNvPr id="5" name="Text 3"/>
          <p:cNvSpPr/>
          <p:nvPr/>
        </p:nvSpPr>
        <p:spPr>
          <a:xfrm>
            <a:off x="457200" y="822960"/>
            <a:ext cx="8229600" cy="10058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Deployment</a:t>
            </a:r>
            <a:endParaRPr lang="en-US" sz="5000" dirty="0"/>
          </a:p>
        </p:txBody>
      </p:sp>
      <p:sp>
        <p:nvSpPr>
          <p:cNvPr id="6" name="Text 4"/>
          <p:cNvSpPr/>
          <p:nvPr/>
        </p:nvSpPr>
        <p:spPr>
          <a:xfrm>
            <a:off x="457200" y="1965960"/>
            <a:ext cx="7772400" cy="548640"/>
          </a:xfrm>
          <a:prstGeom prst="rect">
            <a:avLst/>
          </a:prstGeom>
          <a:noFill/>
          <a:ln/>
        </p:spPr>
        <p:txBody>
          <a:bodyPr wrap="square" lIns="0" tIns="0" rIns="0" bIns="0" rtlCol="0" anchor="ctr"/>
          <a:lstStyle/>
          <a:p>
            <a:pPr indent="0" marL="0">
              <a:buNone/>
            </a:pPr>
            <a:r>
              <a:rPr lang="en-US" sz="1500" dirty="0">
                <a:solidFill>
                  <a:srgbClr val="CCFBF1"/>
                </a:solidFill>
                <a:latin typeface="Calibri" pitchFamily="34" charset="0"/>
                <a:ea typeface="Calibri" pitchFamily="34" charset="-122"/>
                <a:cs typeface="Calibri" pitchFamily="34" charset="-120"/>
              </a:rPr>
              <a:t>Taking a trained model out of a Jupyter notebook and into the real world</a:t>
            </a:r>
            <a:endParaRPr lang="en-US" sz="1500" dirty="0"/>
          </a:p>
        </p:txBody>
      </p:sp>
      <p:sp>
        <p:nvSpPr>
          <p:cNvPr id="7" name="Shape 5"/>
          <p:cNvSpPr/>
          <p:nvPr/>
        </p:nvSpPr>
        <p:spPr>
          <a:xfrm>
            <a:off x="457200" y="2971800"/>
            <a:ext cx="1591056" cy="347472"/>
          </a:xfrm>
          <a:prstGeom prst="roundRect">
            <a:avLst>
              <a:gd name="adj" fmla="val 21053"/>
            </a:avLst>
          </a:prstGeom>
          <a:solidFill>
            <a:srgbClr val="0D9488">
              <a:alpha val="30000"/>
            </a:srgbClr>
          </a:solidFill>
          <a:ln w="12700">
            <a:solidFill>
              <a:srgbClr val="0D9488">
                <a:alpha val="60000"/>
              </a:srgbClr>
            </a:solidFill>
            <a:prstDash val="solid"/>
          </a:ln>
        </p:spPr>
      </p:sp>
      <p:sp>
        <p:nvSpPr>
          <p:cNvPr id="8" name="Text 6"/>
          <p:cNvSpPr/>
          <p:nvPr/>
        </p:nvSpPr>
        <p:spPr>
          <a:xfrm>
            <a:off x="457200" y="2971800"/>
            <a:ext cx="1591056"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Streamlit</a:t>
            </a:r>
            <a:endParaRPr lang="en-US" sz="900" dirty="0"/>
          </a:p>
        </p:txBody>
      </p:sp>
      <p:sp>
        <p:nvSpPr>
          <p:cNvPr id="9" name="Shape 7"/>
          <p:cNvSpPr/>
          <p:nvPr/>
        </p:nvSpPr>
        <p:spPr>
          <a:xfrm>
            <a:off x="2176272" y="2971800"/>
            <a:ext cx="1591056" cy="347472"/>
          </a:xfrm>
          <a:prstGeom prst="roundRect">
            <a:avLst>
              <a:gd name="adj" fmla="val 21053"/>
            </a:avLst>
          </a:prstGeom>
          <a:solidFill>
            <a:srgbClr val="0D9488">
              <a:alpha val="30000"/>
            </a:srgbClr>
          </a:solidFill>
          <a:ln w="12700">
            <a:solidFill>
              <a:srgbClr val="0D9488">
                <a:alpha val="60000"/>
              </a:srgbClr>
            </a:solidFill>
            <a:prstDash val="solid"/>
          </a:ln>
        </p:spPr>
      </p:sp>
      <p:sp>
        <p:nvSpPr>
          <p:cNvPr id="10" name="Text 8"/>
          <p:cNvSpPr/>
          <p:nvPr/>
        </p:nvSpPr>
        <p:spPr>
          <a:xfrm>
            <a:off x="2176272" y="2971800"/>
            <a:ext cx="1591056"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joblib</a:t>
            </a:r>
            <a:endParaRPr lang="en-US" sz="900" dirty="0"/>
          </a:p>
        </p:txBody>
      </p:sp>
      <p:sp>
        <p:nvSpPr>
          <p:cNvPr id="11" name="Shape 9"/>
          <p:cNvSpPr/>
          <p:nvPr/>
        </p:nvSpPr>
        <p:spPr>
          <a:xfrm>
            <a:off x="3895344" y="2971800"/>
            <a:ext cx="1591056" cy="347472"/>
          </a:xfrm>
          <a:prstGeom prst="roundRect">
            <a:avLst>
              <a:gd name="adj" fmla="val 21053"/>
            </a:avLst>
          </a:prstGeom>
          <a:solidFill>
            <a:srgbClr val="0D9488">
              <a:alpha val="30000"/>
            </a:srgbClr>
          </a:solidFill>
          <a:ln w="12700">
            <a:solidFill>
              <a:srgbClr val="0D9488">
                <a:alpha val="60000"/>
              </a:srgbClr>
            </a:solidFill>
            <a:prstDash val="solid"/>
          </a:ln>
        </p:spPr>
      </p:sp>
      <p:sp>
        <p:nvSpPr>
          <p:cNvPr id="12" name="Text 10"/>
          <p:cNvSpPr/>
          <p:nvPr/>
        </p:nvSpPr>
        <p:spPr>
          <a:xfrm>
            <a:off x="3895344" y="2971800"/>
            <a:ext cx="1591056"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Pipeline</a:t>
            </a:r>
            <a:endParaRPr lang="en-US" sz="900" dirty="0"/>
          </a:p>
        </p:txBody>
      </p:sp>
      <p:sp>
        <p:nvSpPr>
          <p:cNvPr id="13" name="Shape 11"/>
          <p:cNvSpPr/>
          <p:nvPr/>
        </p:nvSpPr>
        <p:spPr>
          <a:xfrm>
            <a:off x="5614416" y="2971800"/>
            <a:ext cx="1591056" cy="347472"/>
          </a:xfrm>
          <a:prstGeom prst="roundRect">
            <a:avLst>
              <a:gd name="adj" fmla="val 21053"/>
            </a:avLst>
          </a:prstGeom>
          <a:solidFill>
            <a:srgbClr val="0D9488">
              <a:alpha val="30000"/>
            </a:srgbClr>
          </a:solidFill>
          <a:ln w="12700">
            <a:solidFill>
              <a:srgbClr val="0D9488">
                <a:alpha val="60000"/>
              </a:srgbClr>
            </a:solidFill>
            <a:prstDash val="solid"/>
          </a:ln>
        </p:spPr>
      </p:sp>
      <p:sp>
        <p:nvSpPr>
          <p:cNvPr id="14" name="Text 12"/>
          <p:cNvSpPr/>
          <p:nvPr/>
        </p:nvSpPr>
        <p:spPr>
          <a:xfrm>
            <a:off x="5614416" y="2971800"/>
            <a:ext cx="1591056"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Web App</a:t>
            </a:r>
            <a:endParaRPr lang="en-US" sz="900" dirty="0"/>
          </a:p>
        </p:txBody>
      </p:sp>
      <p:sp>
        <p:nvSpPr>
          <p:cNvPr id="15" name="Shape 13"/>
          <p:cNvSpPr/>
          <p:nvPr/>
        </p:nvSpPr>
        <p:spPr>
          <a:xfrm>
            <a:off x="7333488" y="2971800"/>
            <a:ext cx="1591056" cy="347472"/>
          </a:xfrm>
          <a:prstGeom prst="roundRect">
            <a:avLst>
              <a:gd name="adj" fmla="val 21053"/>
            </a:avLst>
          </a:prstGeom>
          <a:solidFill>
            <a:srgbClr val="0D9488">
              <a:alpha val="30000"/>
            </a:srgbClr>
          </a:solidFill>
          <a:ln w="12700">
            <a:solidFill>
              <a:srgbClr val="0D9488">
                <a:alpha val="60000"/>
              </a:srgbClr>
            </a:solidFill>
            <a:prstDash val="solid"/>
          </a:ln>
        </p:spPr>
      </p:sp>
      <p:sp>
        <p:nvSpPr>
          <p:cNvPr id="16" name="Text 14"/>
          <p:cNvSpPr/>
          <p:nvPr/>
        </p:nvSpPr>
        <p:spPr>
          <a:xfrm>
            <a:off x="7333488" y="2971800"/>
            <a:ext cx="1591056" cy="34747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Give Me Some Credit</a:t>
            </a:r>
            <a:endParaRPr lang="en-US" sz="900" dirty="0"/>
          </a:p>
        </p:txBody>
      </p:sp>
      <p:sp>
        <p:nvSpPr>
          <p:cNvPr id="17" name="Shape 15"/>
          <p:cNvSpPr/>
          <p:nvPr/>
        </p:nvSpPr>
        <p:spPr>
          <a:xfrm>
            <a:off x="457200" y="3749040"/>
            <a:ext cx="8229600" cy="0"/>
          </a:xfrm>
          <a:prstGeom prst="line">
            <a:avLst/>
          </a:prstGeom>
          <a:noFill/>
          <a:ln w="12700">
            <a:solidFill>
              <a:srgbClr val="0D9488">
                <a:alpha val="40000"/>
              </a:srgbClr>
            </a:solidFill>
            <a:prstDash val="solid"/>
          </a:ln>
        </p:spPr>
      </p:sp>
      <p:sp>
        <p:nvSpPr>
          <p:cNvPr id="18" name="Text 16"/>
          <p:cNvSpPr/>
          <p:nvPr/>
        </p:nvSpPr>
        <p:spPr>
          <a:xfrm>
            <a:off x="457200" y="3840480"/>
            <a:ext cx="8229600" cy="329184"/>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Machine Learning Course  ·  Give Me Some Credit Project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is Deployment?</a:t>
            </a:r>
            <a:endParaRPr lang="en-US" sz="2200" dirty="0"/>
          </a:p>
        </p:txBody>
      </p:sp>
      <p:sp>
        <p:nvSpPr>
          <p:cNvPr id="4" name="Shape 2"/>
          <p:cNvSpPr/>
          <p:nvPr/>
        </p:nvSpPr>
        <p:spPr>
          <a:xfrm>
            <a:off x="292608" y="804672"/>
            <a:ext cx="4114800" cy="411480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5" name="Shape 3"/>
          <p:cNvSpPr/>
          <p:nvPr/>
        </p:nvSpPr>
        <p:spPr>
          <a:xfrm>
            <a:off x="292608" y="804672"/>
            <a:ext cx="4114800" cy="64008"/>
          </a:xfrm>
          <a:prstGeom prst="rect">
            <a:avLst/>
          </a:prstGeom>
          <a:solidFill>
            <a:srgbClr val="0D9488"/>
          </a:solidFill>
          <a:ln w="12700">
            <a:solidFill>
              <a:srgbClr val="0D9488"/>
            </a:solidFill>
            <a:prstDash val="solid"/>
          </a:ln>
        </p:spPr>
      </p:sp>
      <p:sp>
        <p:nvSpPr>
          <p:cNvPr id="6" name="Text 4"/>
          <p:cNvSpPr/>
          <p:nvPr/>
        </p:nvSpPr>
        <p:spPr>
          <a:xfrm>
            <a:off x="475488" y="896112"/>
            <a:ext cx="37490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simple definition</a:t>
            </a:r>
            <a:endParaRPr lang="en-US" sz="1300" dirty="0"/>
          </a:p>
        </p:txBody>
      </p:sp>
      <p:sp>
        <p:nvSpPr>
          <p:cNvPr id="7" name="Text 5"/>
          <p:cNvSpPr/>
          <p:nvPr/>
        </p:nvSpPr>
        <p:spPr>
          <a:xfrm>
            <a:off x="475488" y="1298448"/>
            <a:ext cx="3749040" cy="3383280"/>
          </a:xfrm>
          <a:prstGeom prst="rect">
            <a:avLst/>
          </a:prstGeom>
          <a:noFill/>
          <a:ln/>
        </p:spPr>
        <p:txBody>
          <a:bodyPr wrap="square" lIns="0" tIns="0" rIns="0" bIns="0" rtlCol="0" anchor="ctr"/>
          <a:lstStyle/>
          <a:p>
            <a:pPr indent="0" marL="0">
              <a:buNone/>
            </a:pPr>
            <a:r>
              <a:rPr lang="en-US" sz="1050" dirty="0">
                <a:solidFill>
                  <a:srgbClr val="0F172A"/>
                </a:solidFill>
                <a:latin typeface="Calibri" pitchFamily="34" charset="0"/>
                <a:ea typeface="Calibri" pitchFamily="34" charset="-122"/>
                <a:cs typeface="Calibri" pitchFamily="34" charset="-120"/>
              </a:rPr>
              <a:t>You trained a model inside a Jupyter notebook. It works — it can predict. But right now only you can use it, by opening the notebook and running the cells yourself.</a:t>
            </a:r>
            <a:endParaRPr lang="en-US" sz="1050" dirty="0"/>
          </a:p>
          <a:p>
            <a:pPr indent="0" marL="0">
              <a:buNone/>
            </a:pPr>
            <a:endParaRPr lang="en-US" sz="1050" dirty="0"/>
          </a:p>
          <a:p>
            <a:pPr indent="0" marL="0">
              <a:buNone/>
            </a:pPr>
            <a:r>
              <a:rPr lang="en-US" sz="1050" dirty="0">
                <a:solidFill>
                  <a:srgbClr val="0F172A"/>
                </a:solidFill>
                <a:latin typeface="Calibri" pitchFamily="34" charset="0"/>
                <a:ea typeface="Calibri" pitchFamily="34" charset="-122"/>
                <a:cs typeface="Calibri" pitchFamily="34" charset="-120"/>
              </a:rPr>
              <a:t>Deployment means wrapping that model in something anyone can use: a web page, an API, or an app. You give the model a front door.</a:t>
            </a:r>
            <a:endParaRPr lang="en-US" sz="1050" dirty="0"/>
          </a:p>
          <a:p>
            <a:pPr indent="0" marL="0">
              <a:buNone/>
            </a:pPr>
            <a:endParaRPr lang="en-US" sz="1050" dirty="0"/>
          </a:p>
          <a:p>
            <a:pPr indent="0" marL="0">
              <a:buNone/>
            </a:pPr>
            <a:r>
              <a:rPr lang="en-US" sz="1050" dirty="0">
                <a:solidFill>
                  <a:srgbClr val="0F172A"/>
                </a:solidFill>
                <a:latin typeface="Calibri" pitchFamily="34" charset="0"/>
                <a:ea typeface="Calibri" pitchFamily="34" charset="-122"/>
                <a:cs typeface="Calibri" pitchFamily="34" charset="-120"/>
              </a:rPr>
              <a:t>After deployment, a user fills in a form, clicks a button, and gets a result instantly — without ever seeing Python or a notebook.</a:t>
            </a:r>
            <a:endParaRPr lang="en-US" sz="1050" dirty="0"/>
          </a:p>
        </p:txBody>
      </p:sp>
      <p:sp>
        <p:nvSpPr>
          <p:cNvPr id="8" name="Shape 6"/>
          <p:cNvSpPr/>
          <p:nvPr/>
        </p:nvSpPr>
        <p:spPr>
          <a:xfrm>
            <a:off x="4681728" y="804672"/>
            <a:ext cx="4160520" cy="1874520"/>
          </a:xfrm>
          <a:prstGeom prst="rect">
            <a:avLst/>
          </a:prstGeom>
          <a:solidFill>
            <a:srgbClr val="FEE2E2"/>
          </a:solidFill>
          <a:ln w="12700">
            <a:solidFill>
              <a:srgbClr val="FCA5A5"/>
            </a:solidFill>
            <a:prstDash val="solid"/>
          </a:ln>
          <a:effectLst>
            <a:outerShdw sx="100000" sy="100000" kx="0" ky="0" algn="bl" rotWithShape="0" blurRad="76200" dist="38100" dir="8100000">
              <a:srgbClr val="000000">
                <a:alpha val="10000"/>
              </a:srgbClr>
            </a:outerShdw>
          </a:effectLst>
        </p:spPr>
      </p:sp>
      <p:sp>
        <p:nvSpPr>
          <p:cNvPr id="9" name="Shape 7"/>
          <p:cNvSpPr/>
          <p:nvPr/>
        </p:nvSpPr>
        <p:spPr>
          <a:xfrm>
            <a:off x="4681728" y="804672"/>
            <a:ext cx="4160520" cy="64008"/>
          </a:xfrm>
          <a:prstGeom prst="rect">
            <a:avLst/>
          </a:prstGeom>
          <a:solidFill>
            <a:srgbClr val="DC2626"/>
          </a:solidFill>
          <a:ln w="12700">
            <a:solidFill>
              <a:srgbClr val="DC2626"/>
            </a:solidFill>
            <a:prstDash val="solid"/>
          </a:ln>
        </p:spPr>
      </p:sp>
      <p:sp>
        <p:nvSpPr>
          <p:cNvPr id="10" name="Text 8"/>
          <p:cNvSpPr/>
          <p:nvPr/>
        </p:nvSpPr>
        <p:spPr>
          <a:xfrm>
            <a:off x="4828032" y="905256"/>
            <a:ext cx="3840480" cy="292608"/>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Before deployment</a:t>
            </a:r>
            <a:endParaRPr lang="en-US" sz="1100" dirty="0"/>
          </a:p>
        </p:txBody>
      </p:sp>
      <p:sp>
        <p:nvSpPr>
          <p:cNvPr id="11" name="Text 9"/>
          <p:cNvSpPr/>
          <p:nvPr/>
        </p:nvSpPr>
        <p:spPr>
          <a:xfrm>
            <a:off x="4828032" y="1243584"/>
            <a:ext cx="3840480" cy="1280160"/>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Only the data scientist can use the model. They must open the notebook, load the data, run every cell, and interpret the output — every single time someone needs a prediction.</a:t>
            </a:r>
            <a:endParaRPr lang="en-US" sz="1000" dirty="0"/>
          </a:p>
        </p:txBody>
      </p:sp>
      <p:sp>
        <p:nvSpPr>
          <p:cNvPr id="12" name="Shape 10"/>
          <p:cNvSpPr/>
          <p:nvPr/>
        </p:nvSpPr>
        <p:spPr>
          <a:xfrm>
            <a:off x="4681728" y="2852928"/>
            <a:ext cx="4160520" cy="2066544"/>
          </a:xfrm>
          <a:prstGeom prst="rect">
            <a:avLst/>
          </a:prstGeom>
          <a:solidFill>
            <a:srgbClr val="DCFCE7"/>
          </a:solidFill>
          <a:ln w="12700">
            <a:solidFill>
              <a:srgbClr val="BBF7D0"/>
            </a:solidFill>
            <a:prstDash val="solid"/>
          </a:ln>
          <a:effectLst>
            <a:outerShdw sx="100000" sy="100000" kx="0" ky="0" algn="bl" rotWithShape="0" blurRad="76200" dist="38100" dir="8100000">
              <a:srgbClr val="000000">
                <a:alpha val="10000"/>
              </a:srgbClr>
            </a:outerShdw>
          </a:effectLst>
        </p:spPr>
      </p:sp>
      <p:sp>
        <p:nvSpPr>
          <p:cNvPr id="13" name="Shape 11"/>
          <p:cNvSpPr/>
          <p:nvPr/>
        </p:nvSpPr>
        <p:spPr>
          <a:xfrm>
            <a:off x="4681728" y="2852928"/>
            <a:ext cx="4160520" cy="64008"/>
          </a:xfrm>
          <a:prstGeom prst="rect">
            <a:avLst/>
          </a:prstGeom>
          <a:solidFill>
            <a:srgbClr val="16A34A"/>
          </a:solidFill>
          <a:ln w="12700">
            <a:solidFill>
              <a:srgbClr val="16A34A"/>
            </a:solidFill>
            <a:prstDash val="solid"/>
          </a:ln>
        </p:spPr>
      </p:sp>
      <p:sp>
        <p:nvSpPr>
          <p:cNvPr id="14" name="Text 12"/>
          <p:cNvSpPr/>
          <p:nvPr/>
        </p:nvSpPr>
        <p:spPr>
          <a:xfrm>
            <a:off x="4828032" y="2953512"/>
            <a:ext cx="3840480" cy="292608"/>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After deployment</a:t>
            </a:r>
            <a:endParaRPr lang="en-US" sz="1100" dirty="0"/>
          </a:p>
        </p:txBody>
      </p:sp>
      <p:sp>
        <p:nvSpPr>
          <p:cNvPr id="15" name="Text 13"/>
          <p:cNvSpPr/>
          <p:nvPr/>
        </p:nvSpPr>
        <p:spPr>
          <a:xfrm>
            <a:off x="4828032" y="3291840"/>
            <a:ext cx="3840480" cy="1481328"/>
          </a:xfrm>
          <a:prstGeom prst="rect">
            <a:avLst/>
          </a:prstGeom>
          <a:noFill/>
          <a:ln/>
        </p:spPr>
        <p:txBody>
          <a:bodyPr wrap="square" lIns="0" tIns="0" rIns="0" bIns="0" rtlCol="0" anchor="ctr"/>
          <a:lstStyle/>
          <a:p>
            <a:pPr indent="0" marL="0">
              <a:buNone/>
            </a:pPr>
            <a:r>
              <a:rPr lang="en-US" sz="1000" dirty="0">
                <a:solidFill>
                  <a:srgbClr val="0F172A"/>
                </a:solidFill>
                <a:latin typeface="Calibri" pitchFamily="34" charset="0"/>
                <a:ea typeface="Calibri" pitchFamily="34" charset="-122"/>
                <a:cs typeface="Calibri" pitchFamily="34" charset="-120"/>
              </a:rPr>
              <a:t>A loan officer, a credit analyst, or even a customer opens a web page, fills in the applicant's details, clicks Predict, and sees the result immediately. No Python, no notebook, no data scientist required every time.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Who Uses the App &amp; Where</a:t>
            </a:r>
            <a:endParaRPr lang="en-US" sz="2200" dirty="0"/>
          </a:p>
        </p:txBody>
      </p:sp>
      <p:sp>
        <p:nvSpPr>
          <p:cNvPr id="4" name="Text 2"/>
          <p:cNvSpPr/>
          <p:nvPr/>
        </p:nvSpPr>
        <p:spPr>
          <a:xfrm>
            <a:off x="365760" y="749808"/>
            <a:ext cx="8412480" cy="32918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The same trained model can serve different users in different places.</a:t>
            </a:r>
            <a:endParaRPr lang="en-US" sz="1150" dirty="0"/>
          </a:p>
        </p:txBody>
      </p:sp>
      <p:sp>
        <p:nvSpPr>
          <p:cNvPr id="5" name="Shape 3"/>
          <p:cNvSpPr/>
          <p:nvPr/>
        </p:nvSpPr>
        <p:spPr>
          <a:xfrm>
            <a:off x="274320" y="1188720"/>
            <a:ext cx="2798064" cy="373075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274320" y="1188720"/>
            <a:ext cx="2798064" cy="438912"/>
          </a:xfrm>
          <a:prstGeom prst="rect">
            <a:avLst/>
          </a:prstGeom>
          <a:solidFill>
            <a:srgbClr val="0D9488"/>
          </a:solidFill>
          <a:ln w="12700">
            <a:solidFill>
              <a:srgbClr val="0D9488"/>
            </a:solidFill>
            <a:prstDash val="solid"/>
          </a:ln>
        </p:spPr>
      </p:sp>
      <p:sp>
        <p:nvSpPr>
          <p:cNvPr id="7" name="Text 5"/>
          <p:cNvSpPr/>
          <p:nvPr/>
        </p:nvSpPr>
        <p:spPr>
          <a:xfrm>
            <a:off x="384048" y="1188720"/>
            <a:ext cx="2578608" cy="43891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Loan Officer</a:t>
            </a:r>
            <a:endParaRPr lang="en-US" sz="1150" dirty="0"/>
          </a:p>
        </p:txBody>
      </p:sp>
      <p:sp>
        <p:nvSpPr>
          <p:cNvPr id="8" name="Shape 6"/>
          <p:cNvSpPr/>
          <p:nvPr/>
        </p:nvSpPr>
        <p:spPr>
          <a:xfrm>
            <a:off x="384048" y="1737360"/>
            <a:ext cx="1737360" cy="256032"/>
          </a:xfrm>
          <a:prstGeom prst="roundRect">
            <a:avLst>
              <a:gd name="adj" fmla="val 21429"/>
            </a:avLst>
          </a:prstGeom>
          <a:solidFill>
            <a:srgbClr val="0D9488">
              <a:alpha val="18000"/>
            </a:srgbClr>
          </a:solidFill>
          <a:ln w="12700">
            <a:solidFill>
              <a:srgbClr val="0D9488"/>
            </a:solidFill>
            <a:prstDash val="solid"/>
          </a:ln>
        </p:spPr>
      </p:sp>
      <p:sp>
        <p:nvSpPr>
          <p:cNvPr id="9" name="Text 7"/>
          <p:cNvSpPr/>
          <p:nvPr/>
        </p:nvSpPr>
        <p:spPr>
          <a:xfrm>
            <a:off x="384048" y="1737360"/>
            <a:ext cx="1737360" cy="256032"/>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Internal bank tool</a:t>
            </a:r>
            <a:endParaRPr lang="en-US" sz="800" dirty="0"/>
          </a:p>
        </p:txBody>
      </p:sp>
      <p:sp>
        <p:nvSpPr>
          <p:cNvPr id="10" name="Text 8"/>
          <p:cNvSpPr/>
          <p:nvPr/>
        </p:nvSpPr>
        <p:spPr>
          <a:xfrm>
            <a:off x="384048" y="2103120"/>
            <a:ext cx="2578608" cy="237744"/>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How they use it</a:t>
            </a:r>
            <a:endParaRPr lang="en-US" sz="900" dirty="0"/>
          </a:p>
        </p:txBody>
      </p:sp>
      <p:sp>
        <p:nvSpPr>
          <p:cNvPr id="11" name="Text 9"/>
          <p:cNvSpPr/>
          <p:nvPr/>
        </p:nvSpPr>
        <p:spPr>
          <a:xfrm>
            <a:off x="384048" y="2359152"/>
            <a:ext cx="2578608" cy="148132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Sits at their desk, opens the internal web app on their work computer, enters the applicant's details from the paper application form, and reads the risk score. Takes 10 seconds instead of manual analysis.</a:t>
            </a:r>
            <a:endParaRPr lang="en-US" sz="900" dirty="0"/>
          </a:p>
        </p:txBody>
      </p:sp>
      <p:sp>
        <p:nvSpPr>
          <p:cNvPr id="12" name="Shape 10"/>
          <p:cNvSpPr/>
          <p:nvPr/>
        </p:nvSpPr>
        <p:spPr>
          <a:xfrm>
            <a:off x="384048" y="3858768"/>
            <a:ext cx="2578608" cy="0"/>
          </a:xfrm>
          <a:prstGeom prst="line">
            <a:avLst/>
          </a:prstGeom>
          <a:noFill/>
          <a:ln w="12700">
            <a:solidFill>
              <a:srgbClr val="E2E8F0"/>
            </a:solidFill>
            <a:prstDash val="solid"/>
          </a:ln>
        </p:spPr>
      </p:sp>
      <p:sp>
        <p:nvSpPr>
          <p:cNvPr id="13" name="Text 11"/>
          <p:cNvSpPr/>
          <p:nvPr/>
        </p:nvSpPr>
        <p:spPr>
          <a:xfrm>
            <a:off x="384048" y="3931920"/>
            <a:ext cx="2578608" cy="219456"/>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Without deployment:</a:t>
            </a:r>
            <a:endParaRPr lang="en-US" sz="900" dirty="0"/>
          </a:p>
        </p:txBody>
      </p:sp>
      <p:sp>
        <p:nvSpPr>
          <p:cNvPr id="14" name="Text 12"/>
          <p:cNvSpPr/>
          <p:nvPr/>
        </p:nvSpPr>
        <p:spPr>
          <a:xfrm>
            <a:off x="384048" y="4169664"/>
            <a:ext cx="2578608" cy="6400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Reviewing documents manually with no model, relying on experience alone.</a:t>
            </a:r>
            <a:endParaRPr lang="en-US" sz="900" dirty="0"/>
          </a:p>
        </p:txBody>
      </p:sp>
      <p:sp>
        <p:nvSpPr>
          <p:cNvPr id="15" name="Shape 13"/>
          <p:cNvSpPr/>
          <p:nvPr/>
        </p:nvSpPr>
        <p:spPr>
          <a:xfrm>
            <a:off x="3236976" y="1188720"/>
            <a:ext cx="2798064" cy="373075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16" name="Shape 14"/>
          <p:cNvSpPr/>
          <p:nvPr/>
        </p:nvSpPr>
        <p:spPr>
          <a:xfrm>
            <a:off x="3236976" y="1188720"/>
            <a:ext cx="2798064" cy="438912"/>
          </a:xfrm>
          <a:prstGeom prst="rect">
            <a:avLst/>
          </a:prstGeom>
          <a:solidFill>
            <a:srgbClr val="F97316"/>
          </a:solidFill>
          <a:ln w="12700">
            <a:solidFill>
              <a:srgbClr val="F97316"/>
            </a:solidFill>
            <a:prstDash val="solid"/>
          </a:ln>
        </p:spPr>
      </p:sp>
      <p:sp>
        <p:nvSpPr>
          <p:cNvPr id="17" name="Text 15"/>
          <p:cNvSpPr/>
          <p:nvPr/>
        </p:nvSpPr>
        <p:spPr>
          <a:xfrm>
            <a:off x="3346704" y="1188720"/>
            <a:ext cx="2578608" cy="43891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Credit Risk Analyst</a:t>
            </a:r>
            <a:endParaRPr lang="en-US" sz="1150" dirty="0"/>
          </a:p>
        </p:txBody>
      </p:sp>
      <p:sp>
        <p:nvSpPr>
          <p:cNvPr id="18" name="Shape 16"/>
          <p:cNvSpPr/>
          <p:nvPr/>
        </p:nvSpPr>
        <p:spPr>
          <a:xfrm>
            <a:off x="3346704" y="1737360"/>
            <a:ext cx="1737360" cy="256032"/>
          </a:xfrm>
          <a:prstGeom prst="roundRect">
            <a:avLst>
              <a:gd name="adj" fmla="val 21429"/>
            </a:avLst>
          </a:prstGeom>
          <a:solidFill>
            <a:srgbClr val="F97316">
              <a:alpha val="18000"/>
            </a:srgbClr>
          </a:solidFill>
          <a:ln w="12700">
            <a:solidFill>
              <a:srgbClr val="F97316"/>
            </a:solidFill>
            <a:prstDash val="solid"/>
          </a:ln>
        </p:spPr>
      </p:sp>
      <p:sp>
        <p:nvSpPr>
          <p:cNvPr id="19" name="Text 17"/>
          <p:cNvSpPr/>
          <p:nvPr/>
        </p:nvSpPr>
        <p:spPr>
          <a:xfrm>
            <a:off x="3346704" y="1737360"/>
            <a:ext cx="1737360" cy="256032"/>
          </a:xfrm>
          <a:prstGeom prst="rect">
            <a:avLst/>
          </a:prstGeom>
          <a:noFill/>
          <a:ln/>
        </p:spPr>
        <p:txBody>
          <a:bodyPr wrap="square" lIns="0" tIns="0" rIns="0" bIns="0" rtlCol="0" anchor="ctr"/>
          <a:lstStyle/>
          <a:p>
            <a:pPr algn="ctr" indent="0" marL="0">
              <a:buNone/>
            </a:pPr>
            <a:r>
              <a:rPr lang="en-US" sz="800" b="1" dirty="0">
                <a:solidFill>
                  <a:srgbClr val="F97316"/>
                </a:solidFill>
                <a:latin typeface="Calibri" pitchFamily="34" charset="0"/>
                <a:ea typeface="Calibri" pitchFamily="34" charset="-122"/>
                <a:cs typeface="Calibri" pitchFamily="34" charset="-120"/>
              </a:rPr>
              <a:t>Batch scoring dashboard</a:t>
            </a:r>
            <a:endParaRPr lang="en-US" sz="800" dirty="0"/>
          </a:p>
        </p:txBody>
      </p:sp>
      <p:sp>
        <p:nvSpPr>
          <p:cNvPr id="20" name="Text 18"/>
          <p:cNvSpPr/>
          <p:nvPr/>
        </p:nvSpPr>
        <p:spPr>
          <a:xfrm>
            <a:off x="3346704" y="2103120"/>
            <a:ext cx="2578608" cy="237744"/>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How they use it</a:t>
            </a:r>
            <a:endParaRPr lang="en-US" sz="900" dirty="0"/>
          </a:p>
        </p:txBody>
      </p:sp>
      <p:sp>
        <p:nvSpPr>
          <p:cNvPr id="21" name="Text 19"/>
          <p:cNvSpPr/>
          <p:nvPr/>
        </p:nvSpPr>
        <p:spPr>
          <a:xfrm>
            <a:off x="3346704" y="2359152"/>
            <a:ext cx="2578608" cy="148132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Uploads a CSV file with 500 new applicants. The app scores all of them and adds a risk_probability column. They download the result and prioritise which cases need manual review.</a:t>
            </a:r>
            <a:endParaRPr lang="en-US" sz="900" dirty="0"/>
          </a:p>
        </p:txBody>
      </p:sp>
      <p:sp>
        <p:nvSpPr>
          <p:cNvPr id="22" name="Shape 20"/>
          <p:cNvSpPr/>
          <p:nvPr/>
        </p:nvSpPr>
        <p:spPr>
          <a:xfrm>
            <a:off x="3346704" y="3858768"/>
            <a:ext cx="2578608" cy="0"/>
          </a:xfrm>
          <a:prstGeom prst="line">
            <a:avLst/>
          </a:prstGeom>
          <a:noFill/>
          <a:ln w="12700">
            <a:solidFill>
              <a:srgbClr val="E2E8F0"/>
            </a:solidFill>
            <a:prstDash val="solid"/>
          </a:ln>
        </p:spPr>
      </p:sp>
      <p:sp>
        <p:nvSpPr>
          <p:cNvPr id="23" name="Text 21"/>
          <p:cNvSpPr/>
          <p:nvPr/>
        </p:nvSpPr>
        <p:spPr>
          <a:xfrm>
            <a:off x="3346704" y="3931920"/>
            <a:ext cx="2578608" cy="219456"/>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Without deployment:</a:t>
            </a:r>
            <a:endParaRPr lang="en-US" sz="900" dirty="0"/>
          </a:p>
        </p:txBody>
      </p:sp>
      <p:sp>
        <p:nvSpPr>
          <p:cNvPr id="24" name="Text 22"/>
          <p:cNvSpPr/>
          <p:nvPr/>
        </p:nvSpPr>
        <p:spPr>
          <a:xfrm>
            <a:off x="3346704" y="4169664"/>
            <a:ext cx="2578608" cy="6400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Running the Jupyter notebook manually for every batch — error-prone and slow.</a:t>
            </a:r>
            <a:endParaRPr lang="en-US" sz="900" dirty="0"/>
          </a:p>
        </p:txBody>
      </p:sp>
      <p:sp>
        <p:nvSpPr>
          <p:cNvPr id="25" name="Shape 23"/>
          <p:cNvSpPr/>
          <p:nvPr/>
        </p:nvSpPr>
        <p:spPr>
          <a:xfrm>
            <a:off x="6199632" y="1188720"/>
            <a:ext cx="2798064" cy="373075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6" name="Shape 24"/>
          <p:cNvSpPr/>
          <p:nvPr/>
        </p:nvSpPr>
        <p:spPr>
          <a:xfrm>
            <a:off x="6199632" y="1188720"/>
            <a:ext cx="2798064" cy="438912"/>
          </a:xfrm>
          <a:prstGeom prst="rect">
            <a:avLst/>
          </a:prstGeom>
          <a:solidFill>
            <a:srgbClr val="7C3AED"/>
          </a:solidFill>
          <a:ln w="12700">
            <a:solidFill>
              <a:srgbClr val="7C3AED"/>
            </a:solidFill>
            <a:prstDash val="solid"/>
          </a:ln>
        </p:spPr>
      </p:sp>
      <p:sp>
        <p:nvSpPr>
          <p:cNvPr id="27" name="Text 25"/>
          <p:cNvSpPr/>
          <p:nvPr/>
        </p:nvSpPr>
        <p:spPr>
          <a:xfrm>
            <a:off x="6309360" y="1188720"/>
            <a:ext cx="2578608" cy="43891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Bank Customer</a:t>
            </a:r>
            <a:endParaRPr lang="en-US" sz="1150" dirty="0"/>
          </a:p>
        </p:txBody>
      </p:sp>
      <p:sp>
        <p:nvSpPr>
          <p:cNvPr id="28" name="Shape 26"/>
          <p:cNvSpPr/>
          <p:nvPr/>
        </p:nvSpPr>
        <p:spPr>
          <a:xfrm>
            <a:off x="6309360" y="1737360"/>
            <a:ext cx="1737360" cy="256032"/>
          </a:xfrm>
          <a:prstGeom prst="roundRect">
            <a:avLst>
              <a:gd name="adj" fmla="val 21429"/>
            </a:avLst>
          </a:prstGeom>
          <a:solidFill>
            <a:srgbClr val="7C3AED">
              <a:alpha val="18000"/>
            </a:srgbClr>
          </a:solidFill>
          <a:ln w="12700">
            <a:solidFill>
              <a:srgbClr val="7C3AED"/>
            </a:solidFill>
            <a:prstDash val="solid"/>
          </a:ln>
        </p:spPr>
      </p:sp>
      <p:sp>
        <p:nvSpPr>
          <p:cNvPr id="29" name="Text 27"/>
          <p:cNvSpPr/>
          <p:nvPr/>
        </p:nvSpPr>
        <p:spPr>
          <a:xfrm>
            <a:off x="6309360" y="1737360"/>
            <a:ext cx="1737360" cy="256032"/>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Public loan eligibility page</a:t>
            </a:r>
            <a:endParaRPr lang="en-US" sz="800" dirty="0"/>
          </a:p>
        </p:txBody>
      </p:sp>
      <p:sp>
        <p:nvSpPr>
          <p:cNvPr id="30" name="Text 28"/>
          <p:cNvSpPr/>
          <p:nvPr/>
        </p:nvSpPr>
        <p:spPr>
          <a:xfrm>
            <a:off x="6309360" y="2103120"/>
            <a:ext cx="2578608" cy="237744"/>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How they use it</a:t>
            </a:r>
            <a:endParaRPr lang="en-US" sz="900" dirty="0"/>
          </a:p>
        </p:txBody>
      </p:sp>
      <p:sp>
        <p:nvSpPr>
          <p:cNvPr id="31" name="Text 29"/>
          <p:cNvSpPr/>
          <p:nvPr/>
        </p:nvSpPr>
        <p:spPr>
          <a:xfrm>
            <a:off x="6309360" y="2359152"/>
            <a:ext cx="2578608" cy="148132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Fills in their income, age, and existing debts on the bank's public website. Gets an instant preliminary answer on whether they are likely to qualify and what rate to expect.</a:t>
            </a:r>
            <a:endParaRPr lang="en-US" sz="900" dirty="0"/>
          </a:p>
        </p:txBody>
      </p:sp>
      <p:sp>
        <p:nvSpPr>
          <p:cNvPr id="32" name="Shape 30"/>
          <p:cNvSpPr/>
          <p:nvPr/>
        </p:nvSpPr>
        <p:spPr>
          <a:xfrm>
            <a:off x="6309360" y="3858768"/>
            <a:ext cx="2578608" cy="0"/>
          </a:xfrm>
          <a:prstGeom prst="line">
            <a:avLst/>
          </a:prstGeom>
          <a:noFill/>
          <a:ln w="12700">
            <a:solidFill>
              <a:srgbClr val="E2E8F0"/>
            </a:solidFill>
            <a:prstDash val="solid"/>
          </a:ln>
        </p:spPr>
      </p:sp>
      <p:sp>
        <p:nvSpPr>
          <p:cNvPr id="33" name="Text 31"/>
          <p:cNvSpPr/>
          <p:nvPr/>
        </p:nvSpPr>
        <p:spPr>
          <a:xfrm>
            <a:off x="6309360" y="3931920"/>
            <a:ext cx="2578608" cy="219456"/>
          </a:xfrm>
          <a:prstGeom prst="rect">
            <a:avLst/>
          </a:prstGeom>
          <a:noFill/>
          <a:ln/>
        </p:spPr>
        <p:txBody>
          <a:bodyPr wrap="square" lIns="0" tIns="0" rIns="0" bIns="0" rtlCol="0" anchor="ctr"/>
          <a:lstStyle/>
          <a:p>
            <a:pPr indent="0" marL="0">
              <a:buNone/>
            </a:pPr>
            <a:r>
              <a:rPr lang="en-US" sz="900" b="1" dirty="0">
                <a:solidFill>
                  <a:srgbClr val="DC2626"/>
                </a:solidFill>
                <a:latin typeface="Calibri" pitchFamily="34" charset="0"/>
                <a:ea typeface="Calibri" pitchFamily="34" charset="-122"/>
                <a:cs typeface="Calibri" pitchFamily="34" charset="-120"/>
              </a:rPr>
              <a:t>Without deployment:</a:t>
            </a:r>
            <a:endParaRPr lang="en-US" sz="900" dirty="0"/>
          </a:p>
        </p:txBody>
      </p:sp>
      <p:sp>
        <p:nvSpPr>
          <p:cNvPr id="34" name="Text 32"/>
          <p:cNvSpPr/>
          <p:nvPr/>
        </p:nvSpPr>
        <p:spPr>
          <a:xfrm>
            <a:off x="6309360" y="4169664"/>
            <a:ext cx="2578608" cy="6400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Submitting a full application and waiting days just to find out if it is worth applying.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Deployment Works — The Full Flow</a:t>
            </a:r>
            <a:endParaRPr lang="en-US" sz="2200" dirty="0"/>
          </a:p>
        </p:txBody>
      </p:sp>
      <p:sp>
        <p:nvSpPr>
          <p:cNvPr id="4" name="Shape 2"/>
          <p:cNvSpPr/>
          <p:nvPr/>
        </p:nvSpPr>
        <p:spPr>
          <a:xfrm>
            <a:off x="201168" y="804672"/>
            <a:ext cx="1188720" cy="960120"/>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0000"/>
              </a:srgbClr>
            </a:outerShdw>
          </a:effectLst>
        </p:spPr>
      </p:sp>
      <p:sp>
        <p:nvSpPr>
          <p:cNvPr id="5" name="Shape 3"/>
          <p:cNvSpPr/>
          <p:nvPr/>
        </p:nvSpPr>
        <p:spPr>
          <a:xfrm>
            <a:off x="640080" y="841248"/>
            <a:ext cx="310896" cy="310896"/>
          </a:xfrm>
          <a:prstGeom prst="ellipse">
            <a:avLst/>
          </a:prstGeom>
          <a:solidFill>
            <a:srgbClr val="FFFFFF">
              <a:alpha val="20000"/>
            </a:srgbClr>
          </a:solidFill>
          <a:ln w="12700">
            <a:solidFill>
              <a:srgbClr val="FFFFFF">
                <a:alpha val="40000"/>
              </a:srgbClr>
            </a:solidFill>
            <a:prstDash val="solid"/>
          </a:ln>
        </p:spPr>
      </p:sp>
      <p:sp>
        <p:nvSpPr>
          <p:cNvPr id="6" name="Text 4"/>
          <p:cNvSpPr/>
          <p:nvPr/>
        </p:nvSpPr>
        <p:spPr>
          <a:xfrm>
            <a:off x="64008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20116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Train &amp;</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Save</a:t>
            </a:r>
            <a:endParaRPr lang="en-US" sz="950" dirty="0"/>
          </a:p>
        </p:txBody>
      </p:sp>
      <p:sp>
        <p:nvSpPr>
          <p:cNvPr id="8" name="Shape 6"/>
          <p:cNvSpPr/>
          <p:nvPr/>
        </p:nvSpPr>
        <p:spPr>
          <a:xfrm>
            <a:off x="274320" y="1819656"/>
            <a:ext cx="1042416" cy="256032"/>
          </a:xfrm>
          <a:prstGeom prst="roundRect">
            <a:avLst>
              <a:gd name="adj" fmla="val 21429"/>
            </a:avLst>
          </a:prstGeom>
          <a:solidFill>
            <a:srgbClr val="E2E8F0"/>
          </a:solidFill>
          <a:ln w="12700">
            <a:solidFill>
              <a:srgbClr val="E2E8F0"/>
            </a:solidFill>
            <a:prstDash val="solid"/>
          </a:ln>
        </p:spPr>
      </p:sp>
      <p:sp>
        <p:nvSpPr>
          <p:cNvPr id="9" name="Text 7"/>
          <p:cNvSpPr/>
          <p:nvPr/>
        </p:nvSpPr>
        <p:spPr>
          <a:xfrm>
            <a:off x="27432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notebook + joblib.dump()</a:t>
            </a:r>
            <a:endParaRPr lang="en-US" sz="750" dirty="0"/>
          </a:p>
        </p:txBody>
      </p:sp>
      <p:sp>
        <p:nvSpPr>
          <p:cNvPr id="10" name="Shape 8"/>
          <p:cNvSpPr/>
          <p:nvPr/>
        </p:nvSpPr>
        <p:spPr>
          <a:xfrm>
            <a:off x="1389888" y="1284732"/>
            <a:ext cx="274320" cy="0"/>
          </a:xfrm>
          <a:prstGeom prst="line">
            <a:avLst/>
          </a:prstGeom>
          <a:noFill/>
          <a:ln w="31750">
            <a:solidFill>
              <a:srgbClr val="0D9488"/>
            </a:solidFill>
            <a:prstDash val="solid"/>
          </a:ln>
        </p:spPr>
      </p:sp>
      <p:sp>
        <p:nvSpPr>
          <p:cNvPr id="11" name="Shape 9"/>
          <p:cNvSpPr/>
          <p:nvPr/>
        </p:nvSpPr>
        <p:spPr>
          <a:xfrm>
            <a:off x="1664208" y="804672"/>
            <a:ext cx="1188720" cy="960120"/>
          </a:xfrm>
          <a:prstGeom prst="rect">
            <a:avLst/>
          </a:prstGeom>
          <a:solidFill>
            <a:srgbClr val="0D9488"/>
          </a:solidFill>
          <a:ln w="12700">
            <a:solidFill>
              <a:srgbClr val="0D9488"/>
            </a:solidFill>
            <a:prstDash val="solid"/>
          </a:ln>
          <a:effectLst>
            <a:outerShdw sx="100000" sy="100000" kx="0" ky="0" algn="bl" rotWithShape="0" blurRad="76200" dist="38100" dir="8100000">
              <a:srgbClr val="000000">
                <a:alpha val="10000"/>
              </a:srgbClr>
            </a:outerShdw>
          </a:effectLst>
        </p:spPr>
      </p:sp>
      <p:sp>
        <p:nvSpPr>
          <p:cNvPr id="12" name="Shape 10"/>
          <p:cNvSpPr/>
          <p:nvPr/>
        </p:nvSpPr>
        <p:spPr>
          <a:xfrm>
            <a:off x="2103120" y="841248"/>
            <a:ext cx="310896" cy="310896"/>
          </a:xfrm>
          <a:prstGeom prst="ellipse">
            <a:avLst/>
          </a:prstGeom>
          <a:solidFill>
            <a:srgbClr val="FFFFFF">
              <a:alpha val="20000"/>
            </a:srgbClr>
          </a:solidFill>
          <a:ln w="12700">
            <a:solidFill>
              <a:srgbClr val="FFFFFF">
                <a:alpha val="40000"/>
              </a:srgbClr>
            </a:solidFill>
            <a:prstDash val="solid"/>
          </a:ln>
        </p:spPr>
      </p:sp>
      <p:sp>
        <p:nvSpPr>
          <p:cNvPr id="13" name="Text 11"/>
          <p:cNvSpPr/>
          <p:nvPr/>
        </p:nvSpPr>
        <p:spPr>
          <a:xfrm>
            <a:off x="210312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166420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.pkl</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File</a:t>
            </a:r>
            <a:endParaRPr lang="en-US" sz="950" dirty="0"/>
          </a:p>
        </p:txBody>
      </p:sp>
      <p:sp>
        <p:nvSpPr>
          <p:cNvPr id="15" name="Shape 13"/>
          <p:cNvSpPr/>
          <p:nvPr/>
        </p:nvSpPr>
        <p:spPr>
          <a:xfrm>
            <a:off x="1737360" y="1819656"/>
            <a:ext cx="1042416" cy="256032"/>
          </a:xfrm>
          <a:prstGeom prst="roundRect">
            <a:avLst>
              <a:gd name="adj" fmla="val 21429"/>
            </a:avLst>
          </a:prstGeom>
          <a:solidFill>
            <a:srgbClr val="E2E8F0"/>
          </a:solidFill>
          <a:ln w="12700">
            <a:solidFill>
              <a:srgbClr val="E2E8F0"/>
            </a:solidFill>
            <a:prstDash val="solid"/>
          </a:ln>
        </p:spPr>
      </p:sp>
      <p:sp>
        <p:nvSpPr>
          <p:cNvPr id="16" name="Text 14"/>
          <p:cNvSpPr/>
          <p:nvPr/>
        </p:nvSpPr>
        <p:spPr>
          <a:xfrm>
            <a:off x="173736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best_pipeline_v2.pkl</a:t>
            </a:r>
            <a:endParaRPr lang="en-US" sz="750" dirty="0"/>
          </a:p>
        </p:txBody>
      </p:sp>
      <p:sp>
        <p:nvSpPr>
          <p:cNvPr id="17" name="Shape 15"/>
          <p:cNvSpPr/>
          <p:nvPr/>
        </p:nvSpPr>
        <p:spPr>
          <a:xfrm>
            <a:off x="2852928" y="1284732"/>
            <a:ext cx="274320" cy="0"/>
          </a:xfrm>
          <a:prstGeom prst="line">
            <a:avLst/>
          </a:prstGeom>
          <a:noFill/>
          <a:ln w="31750">
            <a:solidFill>
              <a:srgbClr val="0D9488"/>
            </a:solidFill>
            <a:prstDash val="solid"/>
          </a:ln>
        </p:spPr>
      </p:sp>
      <p:sp>
        <p:nvSpPr>
          <p:cNvPr id="18" name="Shape 16"/>
          <p:cNvSpPr/>
          <p:nvPr/>
        </p:nvSpPr>
        <p:spPr>
          <a:xfrm>
            <a:off x="3127248" y="804672"/>
            <a:ext cx="1188720" cy="960120"/>
          </a:xfrm>
          <a:prstGeom prst="rect">
            <a:avLst/>
          </a:prstGeom>
          <a:solidFill>
            <a:srgbClr val="F97316"/>
          </a:solidFill>
          <a:ln w="12700">
            <a:solidFill>
              <a:srgbClr val="F97316"/>
            </a:solidFill>
            <a:prstDash val="solid"/>
          </a:ln>
          <a:effectLst>
            <a:outerShdw sx="100000" sy="100000" kx="0" ky="0" algn="bl" rotWithShape="0" blurRad="76200" dist="38100" dir="8100000">
              <a:srgbClr val="000000">
                <a:alpha val="10000"/>
              </a:srgbClr>
            </a:outerShdw>
          </a:effectLst>
        </p:spPr>
      </p:sp>
      <p:sp>
        <p:nvSpPr>
          <p:cNvPr id="19" name="Shape 17"/>
          <p:cNvSpPr/>
          <p:nvPr/>
        </p:nvSpPr>
        <p:spPr>
          <a:xfrm>
            <a:off x="3566160" y="841248"/>
            <a:ext cx="310896" cy="310896"/>
          </a:xfrm>
          <a:prstGeom prst="ellipse">
            <a:avLst/>
          </a:prstGeom>
          <a:solidFill>
            <a:srgbClr val="FFFFFF">
              <a:alpha val="20000"/>
            </a:srgbClr>
          </a:solidFill>
          <a:ln w="12700">
            <a:solidFill>
              <a:srgbClr val="FFFFFF">
                <a:alpha val="40000"/>
              </a:srgbClr>
            </a:solidFill>
            <a:prstDash val="solid"/>
          </a:ln>
        </p:spPr>
      </p:sp>
      <p:sp>
        <p:nvSpPr>
          <p:cNvPr id="20" name="Text 18"/>
          <p:cNvSpPr/>
          <p:nvPr/>
        </p:nvSpPr>
        <p:spPr>
          <a:xfrm>
            <a:off x="356616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1" name="Text 19"/>
          <p:cNvSpPr/>
          <p:nvPr/>
        </p:nvSpPr>
        <p:spPr>
          <a:xfrm>
            <a:off x="312724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App</a:t>
            </a:r>
            <a:endParaRPr lang="en-US" sz="950" dirty="0"/>
          </a:p>
        </p:txBody>
      </p:sp>
      <p:sp>
        <p:nvSpPr>
          <p:cNvPr id="22" name="Shape 20"/>
          <p:cNvSpPr/>
          <p:nvPr/>
        </p:nvSpPr>
        <p:spPr>
          <a:xfrm>
            <a:off x="3200400" y="1819656"/>
            <a:ext cx="1042416" cy="256032"/>
          </a:xfrm>
          <a:prstGeom prst="roundRect">
            <a:avLst>
              <a:gd name="adj" fmla="val 21429"/>
            </a:avLst>
          </a:prstGeom>
          <a:solidFill>
            <a:srgbClr val="E2E8F0"/>
          </a:solidFill>
          <a:ln w="12700">
            <a:solidFill>
              <a:srgbClr val="E2E8F0"/>
            </a:solidFill>
            <a:prstDash val="solid"/>
          </a:ln>
        </p:spPr>
      </p:sp>
      <p:sp>
        <p:nvSpPr>
          <p:cNvPr id="23" name="Text 21"/>
          <p:cNvSpPr/>
          <p:nvPr/>
        </p:nvSpPr>
        <p:spPr>
          <a:xfrm>
            <a:off x="320040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app_credit_risk.py</a:t>
            </a:r>
            <a:endParaRPr lang="en-US" sz="750" dirty="0"/>
          </a:p>
        </p:txBody>
      </p:sp>
      <p:sp>
        <p:nvSpPr>
          <p:cNvPr id="24" name="Shape 22"/>
          <p:cNvSpPr/>
          <p:nvPr/>
        </p:nvSpPr>
        <p:spPr>
          <a:xfrm>
            <a:off x="4315968" y="1284732"/>
            <a:ext cx="274320" cy="0"/>
          </a:xfrm>
          <a:prstGeom prst="line">
            <a:avLst/>
          </a:prstGeom>
          <a:noFill/>
          <a:ln w="31750">
            <a:solidFill>
              <a:srgbClr val="0D9488"/>
            </a:solidFill>
            <a:prstDash val="solid"/>
          </a:ln>
        </p:spPr>
      </p:sp>
      <p:sp>
        <p:nvSpPr>
          <p:cNvPr id="25" name="Shape 23"/>
          <p:cNvSpPr/>
          <p:nvPr/>
        </p:nvSpPr>
        <p:spPr>
          <a:xfrm>
            <a:off x="4590288" y="804672"/>
            <a:ext cx="1188720" cy="960120"/>
          </a:xfrm>
          <a:prstGeom prst="rect">
            <a:avLst/>
          </a:prstGeom>
          <a:solidFill>
            <a:srgbClr val="0D9488"/>
          </a:solidFill>
          <a:ln w="12700">
            <a:solidFill>
              <a:srgbClr val="0D9488"/>
            </a:solidFill>
            <a:prstDash val="solid"/>
          </a:ln>
          <a:effectLst>
            <a:outerShdw sx="100000" sy="100000" kx="0" ky="0" algn="bl" rotWithShape="0" blurRad="76200" dist="38100" dir="8100000">
              <a:srgbClr val="000000">
                <a:alpha val="10000"/>
              </a:srgbClr>
            </a:outerShdw>
          </a:effectLst>
        </p:spPr>
      </p:sp>
      <p:sp>
        <p:nvSpPr>
          <p:cNvPr id="26" name="Shape 24"/>
          <p:cNvSpPr/>
          <p:nvPr/>
        </p:nvSpPr>
        <p:spPr>
          <a:xfrm>
            <a:off x="5029200" y="841248"/>
            <a:ext cx="310896" cy="310896"/>
          </a:xfrm>
          <a:prstGeom prst="ellipse">
            <a:avLst/>
          </a:prstGeom>
          <a:solidFill>
            <a:srgbClr val="FFFFFF">
              <a:alpha val="20000"/>
            </a:srgbClr>
          </a:solidFill>
          <a:ln w="12700">
            <a:solidFill>
              <a:srgbClr val="FFFFFF">
                <a:alpha val="40000"/>
              </a:srgbClr>
            </a:solidFill>
            <a:prstDash val="solid"/>
          </a:ln>
        </p:spPr>
      </p:sp>
      <p:sp>
        <p:nvSpPr>
          <p:cNvPr id="27" name="Text 25"/>
          <p:cNvSpPr/>
          <p:nvPr/>
        </p:nvSpPr>
        <p:spPr>
          <a:xfrm>
            <a:off x="502920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8" name="Text 26"/>
          <p:cNvSpPr/>
          <p:nvPr/>
        </p:nvSpPr>
        <p:spPr>
          <a:xfrm>
            <a:off x="459028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Load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29" name="Shape 27"/>
          <p:cNvSpPr/>
          <p:nvPr/>
        </p:nvSpPr>
        <p:spPr>
          <a:xfrm>
            <a:off x="4663440" y="1819656"/>
            <a:ext cx="1042416" cy="256032"/>
          </a:xfrm>
          <a:prstGeom prst="roundRect">
            <a:avLst>
              <a:gd name="adj" fmla="val 21429"/>
            </a:avLst>
          </a:prstGeom>
          <a:solidFill>
            <a:srgbClr val="E2E8F0"/>
          </a:solidFill>
          <a:ln w="12700">
            <a:solidFill>
              <a:srgbClr val="E2E8F0"/>
            </a:solidFill>
            <a:prstDash val="solid"/>
          </a:ln>
        </p:spPr>
      </p:sp>
      <p:sp>
        <p:nvSpPr>
          <p:cNvPr id="30" name="Text 28"/>
          <p:cNvSpPr/>
          <p:nvPr/>
        </p:nvSpPr>
        <p:spPr>
          <a:xfrm>
            <a:off x="466344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joblib.load()</a:t>
            </a:r>
            <a:endParaRPr lang="en-US" sz="750" dirty="0"/>
          </a:p>
        </p:txBody>
      </p:sp>
      <p:sp>
        <p:nvSpPr>
          <p:cNvPr id="31" name="Shape 29"/>
          <p:cNvSpPr/>
          <p:nvPr/>
        </p:nvSpPr>
        <p:spPr>
          <a:xfrm>
            <a:off x="5779008" y="1284732"/>
            <a:ext cx="274320" cy="0"/>
          </a:xfrm>
          <a:prstGeom prst="line">
            <a:avLst/>
          </a:prstGeom>
          <a:noFill/>
          <a:ln w="31750">
            <a:solidFill>
              <a:srgbClr val="0D9488"/>
            </a:solidFill>
            <a:prstDash val="solid"/>
          </a:ln>
        </p:spPr>
      </p:sp>
      <p:sp>
        <p:nvSpPr>
          <p:cNvPr id="32" name="Shape 30"/>
          <p:cNvSpPr/>
          <p:nvPr/>
        </p:nvSpPr>
        <p:spPr>
          <a:xfrm>
            <a:off x="6053328" y="804672"/>
            <a:ext cx="1188720" cy="960120"/>
          </a:xfrm>
          <a:prstGeom prst="rect">
            <a:avLst/>
          </a:prstGeom>
          <a:solidFill>
            <a:srgbClr val="16A34A"/>
          </a:solidFill>
          <a:ln w="12700">
            <a:solidFill>
              <a:srgbClr val="16A34A"/>
            </a:solidFill>
            <a:prstDash val="solid"/>
          </a:ln>
          <a:effectLst>
            <a:outerShdw sx="100000" sy="100000" kx="0" ky="0" algn="bl" rotWithShape="0" blurRad="76200" dist="38100" dir="8100000">
              <a:srgbClr val="000000">
                <a:alpha val="10000"/>
              </a:srgbClr>
            </a:outerShdw>
          </a:effectLst>
        </p:spPr>
      </p:sp>
      <p:sp>
        <p:nvSpPr>
          <p:cNvPr id="33" name="Shape 31"/>
          <p:cNvSpPr/>
          <p:nvPr/>
        </p:nvSpPr>
        <p:spPr>
          <a:xfrm>
            <a:off x="6492240" y="841248"/>
            <a:ext cx="310896" cy="310896"/>
          </a:xfrm>
          <a:prstGeom prst="ellipse">
            <a:avLst/>
          </a:prstGeom>
          <a:solidFill>
            <a:srgbClr val="FFFFFF">
              <a:alpha val="20000"/>
            </a:srgbClr>
          </a:solidFill>
          <a:ln w="12700">
            <a:solidFill>
              <a:srgbClr val="FFFFFF">
                <a:alpha val="40000"/>
              </a:srgbClr>
            </a:solidFill>
            <a:prstDash val="solid"/>
          </a:ln>
        </p:spPr>
      </p:sp>
      <p:sp>
        <p:nvSpPr>
          <p:cNvPr id="34" name="Text 32"/>
          <p:cNvSpPr/>
          <p:nvPr/>
        </p:nvSpPr>
        <p:spPr>
          <a:xfrm>
            <a:off x="649224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605332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User</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Inputs</a:t>
            </a:r>
            <a:endParaRPr lang="en-US" sz="950" dirty="0"/>
          </a:p>
        </p:txBody>
      </p:sp>
      <p:sp>
        <p:nvSpPr>
          <p:cNvPr id="36" name="Shape 34"/>
          <p:cNvSpPr/>
          <p:nvPr/>
        </p:nvSpPr>
        <p:spPr>
          <a:xfrm>
            <a:off x="6126480" y="1819656"/>
            <a:ext cx="1042416" cy="256032"/>
          </a:xfrm>
          <a:prstGeom prst="roundRect">
            <a:avLst>
              <a:gd name="adj" fmla="val 21429"/>
            </a:avLst>
          </a:prstGeom>
          <a:solidFill>
            <a:srgbClr val="E2E8F0"/>
          </a:solidFill>
          <a:ln w="12700">
            <a:solidFill>
              <a:srgbClr val="E2E8F0"/>
            </a:solidFill>
            <a:prstDash val="solid"/>
          </a:ln>
        </p:spPr>
      </p:sp>
      <p:sp>
        <p:nvSpPr>
          <p:cNvPr id="37" name="Text 35"/>
          <p:cNvSpPr/>
          <p:nvPr/>
        </p:nvSpPr>
        <p:spPr>
          <a:xfrm>
            <a:off x="612648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form in browser</a:t>
            </a:r>
            <a:endParaRPr lang="en-US" sz="750" dirty="0"/>
          </a:p>
        </p:txBody>
      </p:sp>
      <p:sp>
        <p:nvSpPr>
          <p:cNvPr id="38" name="Shape 36"/>
          <p:cNvSpPr/>
          <p:nvPr/>
        </p:nvSpPr>
        <p:spPr>
          <a:xfrm>
            <a:off x="7242048" y="1284732"/>
            <a:ext cx="274320" cy="0"/>
          </a:xfrm>
          <a:prstGeom prst="line">
            <a:avLst/>
          </a:prstGeom>
          <a:noFill/>
          <a:ln w="31750">
            <a:solidFill>
              <a:srgbClr val="0D9488"/>
            </a:solidFill>
            <a:prstDash val="solid"/>
          </a:ln>
        </p:spPr>
      </p:sp>
      <p:sp>
        <p:nvSpPr>
          <p:cNvPr id="39" name="Shape 37"/>
          <p:cNvSpPr/>
          <p:nvPr/>
        </p:nvSpPr>
        <p:spPr>
          <a:xfrm>
            <a:off x="7516368" y="804672"/>
            <a:ext cx="1188720" cy="960120"/>
          </a:xfrm>
          <a:prstGeom prst="rect">
            <a:avLst/>
          </a:prstGeom>
          <a:solidFill>
            <a:srgbClr val="1B2A4A"/>
          </a:solidFill>
          <a:ln w="12700">
            <a:solidFill>
              <a:srgbClr val="1B2A4A"/>
            </a:solidFill>
            <a:prstDash val="solid"/>
          </a:ln>
          <a:effectLst>
            <a:outerShdw sx="100000" sy="100000" kx="0" ky="0" algn="bl" rotWithShape="0" blurRad="76200" dist="38100" dir="8100000">
              <a:srgbClr val="000000">
                <a:alpha val="10000"/>
              </a:srgbClr>
            </a:outerShdw>
          </a:effectLst>
        </p:spPr>
      </p:sp>
      <p:sp>
        <p:nvSpPr>
          <p:cNvPr id="40" name="Shape 38"/>
          <p:cNvSpPr/>
          <p:nvPr/>
        </p:nvSpPr>
        <p:spPr>
          <a:xfrm>
            <a:off x="7955280" y="841248"/>
            <a:ext cx="310896" cy="310896"/>
          </a:xfrm>
          <a:prstGeom prst="ellipse">
            <a:avLst/>
          </a:prstGeom>
          <a:solidFill>
            <a:srgbClr val="FFFFFF">
              <a:alpha val="20000"/>
            </a:srgbClr>
          </a:solidFill>
          <a:ln w="12700">
            <a:solidFill>
              <a:srgbClr val="FFFFFF">
                <a:alpha val="40000"/>
              </a:srgbClr>
            </a:solidFill>
            <a:prstDash val="solid"/>
          </a:ln>
        </p:spPr>
      </p:sp>
      <p:sp>
        <p:nvSpPr>
          <p:cNvPr id="41" name="Text 39"/>
          <p:cNvSpPr/>
          <p:nvPr/>
        </p:nvSpPr>
        <p:spPr>
          <a:xfrm>
            <a:off x="7955280" y="841248"/>
            <a:ext cx="310896"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42" name="Text 40"/>
          <p:cNvSpPr/>
          <p:nvPr/>
        </p:nvSpPr>
        <p:spPr>
          <a:xfrm>
            <a:off x="7516368" y="1133856"/>
            <a:ext cx="118872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Prediction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Returned</a:t>
            </a:r>
            <a:endParaRPr lang="en-US" sz="950" dirty="0"/>
          </a:p>
        </p:txBody>
      </p:sp>
      <p:sp>
        <p:nvSpPr>
          <p:cNvPr id="43" name="Shape 41"/>
          <p:cNvSpPr/>
          <p:nvPr/>
        </p:nvSpPr>
        <p:spPr>
          <a:xfrm>
            <a:off x="7589520" y="1819656"/>
            <a:ext cx="1042416" cy="256032"/>
          </a:xfrm>
          <a:prstGeom prst="roundRect">
            <a:avLst>
              <a:gd name="adj" fmla="val 21429"/>
            </a:avLst>
          </a:prstGeom>
          <a:solidFill>
            <a:srgbClr val="E2E8F0"/>
          </a:solidFill>
          <a:ln w="12700">
            <a:solidFill>
              <a:srgbClr val="E2E8F0"/>
            </a:solidFill>
            <a:prstDash val="solid"/>
          </a:ln>
        </p:spPr>
      </p:sp>
      <p:sp>
        <p:nvSpPr>
          <p:cNvPr id="44" name="Text 42"/>
          <p:cNvSpPr/>
          <p:nvPr/>
        </p:nvSpPr>
        <p:spPr>
          <a:xfrm>
            <a:off x="7589520" y="1819656"/>
            <a:ext cx="1042416" cy="256032"/>
          </a:xfrm>
          <a:prstGeom prst="rect">
            <a:avLst/>
          </a:prstGeom>
          <a:noFill/>
          <a:ln/>
        </p:spPr>
        <p:txBody>
          <a:bodyPr wrap="square" lIns="0" tIns="0" rIns="0" bIns="0" rtlCol="0" anchor="ctr"/>
          <a:lstStyle/>
          <a:p>
            <a:pPr algn="ctr" indent="0" marL="0">
              <a:buNone/>
            </a:pPr>
            <a:r>
              <a:rPr lang="en-US" sz="750" dirty="0">
                <a:solidFill>
                  <a:srgbClr val="64748B"/>
                </a:solidFill>
                <a:latin typeface="Consolas" pitchFamily="34" charset="0"/>
                <a:ea typeface="Consolas" pitchFamily="34" charset="-122"/>
                <a:cs typeface="Consolas" pitchFamily="34" charset="-120"/>
              </a:rPr>
              <a:t>probability score</a:t>
            </a:r>
            <a:endParaRPr lang="en-US" sz="750" dirty="0"/>
          </a:p>
        </p:txBody>
      </p:sp>
      <p:sp>
        <p:nvSpPr>
          <p:cNvPr id="45" name="Shape 43"/>
          <p:cNvSpPr/>
          <p:nvPr/>
        </p:nvSpPr>
        <p:spPr>
          <a:xfrm>
            <a:off x="274320" y="2377440"/>
            <a:ext cx="2798064" cy="256032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46" name="Shape 44"/>
          <p:cNvSpPr/>
          <p:nvPr/>
        </p:nvSpPr>
        <p:spPr>
          <a:xfrm>
            <a:off x="274320" y="2377440"/>
            <a:ext cx="2798064" cy="64008"/>
          </a:xfrm>
          <a:prstGeom prst="rect">
            <a:avLst/>
          </a:prstGeom>
          <a:solidFill>
            <a:srgbClr val="0D9488"/>
          </a:solidFill>
          <a:ln w="12700">
            <a:solidFill>
              <a:srgbClr val="0D9488"/>
            </a:solidFill>
            <a:prstDash val="solid"/>
          </a:ln>
        </p:spPr>
      </p:sp>
      <p:sp>
        <p:nvSpPr>
          <p:cNvPr id="47" name="Shape 45"/>
          <p:cNvSpPr/>
          <p:nvPr/>
        </p:nvSpPr>
        <p:spPr>
          <a:xfrm>
            <a:off x="365760" y="2505456"/>
            <a:ext cx="2615184" cy="329184"/>
          </a:xfrm>
          <a:prstGeom prst="rect">
            <a:avLst/>
          </a:prstGeom>
          <a:solidFill>
            <a:srgbClr val="1E293B"/>
          </a:solidFill>
          <a:ln w="12700">
            <a:solidFill>
              <a:srgbClr val="1E293B"/>
            </a:solidFill>
            <a:prstDash val="solid"/>
          </a:ln>
        </p:spPr>
      </p:sp>
      <p:sp>
        <p:nvSpPr>
          <p:cNvPr id="48" name="Text 46"/>
          <p:cNvSpPr/>
          <p:nvPr/>
        </p:nvSpPr>
        <p:spPr>
          <a:xfrm>
            <a:off x="365760" y="2505456"/>
            <a:ext cx="2615184" cy="329184"/>
          </a:xfrm>
          <a:prstGeom prst="rect">
            <a:avLst/>
          </a:prstGeom>
          <a:noFill/>
          <a:ln/>
        </p:spPr>
        <p:txBody>
          <a:bodyPr wrap="square" lIns="0" tIns="0" rIns="0" bIns="0" rtlCol="0" anchor="ctr"/>
          <a:lstStyle/>
          <a:p>
            <a:pPr algn="ctr" indent="0" marL="0">
              <a:buNone/>
            </a:pPr>
            <a:r>
              <a:rPr lang="en-US" sz="750" dirty="0">
                <a:solidFill>
                  <a:srgbClr val="7DD3FC"/>
                </a:solidFill>
                <a:latin typeface="Consolas" pitchFamily="34" charset="0"/>
                <a:ea typeface="Consolas" pitchFamily="34" charset="-122"/>
                <a:cs typeface="Consolas" pitchFamily="34" charset="-120"/>
              </a:rPr>
              <a:t>joblib.dump(pipeline, 'model.pkl')</a:t>
            </a:r>
            <a:endParaRPr lang="en-US" sz="750" dirty="0"/>
          </a:p>
        </p:txBody>
      </p:sp>
      <p:sp>
        <p:nvSpPr>
          <p:cNvPr id="49" name="Text 47"/>
          <p:cNvSpPr/>
          <p:nvPr/>
        </p:nvSpPr>
        <p:spPr>
          <a:xfrm>
            <a:off x="365760" y="2907792"/>
            <a:ext cx="2615184" cy="19202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After training, you save the ENTIRE pipeline — every preprocessing step and the model — into one .pkl file. This single file is everything the app needs.</a:t>
            </a:r>
            <a:endParaRPr lang="en-US" sz="950" dirty="0"/>
          </a:p>
        </p:txBody>
      </p:sp>
      <p:sp>
        <p:nvSpPr>
          <p:cNvPr id="50" name="Shape 48"/>
          <p:cNvSpPr/>
          <p:nvPr/>
        </p:nvSpPr>
        <p:spPr>
          <a:xfrm>
            <a:off x="3236976" y="2377440"/>
            <a:ext cx="2798064" cy="256032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51" name="Shape 49"/>
          <p:cNvSpPr/>
          <p:nvPr/>
        </p:nvSpPr>
        <p:spPr>
          <a:xfrm>
            <a:off x="3236976" y="2377440"/>
            <a:ext cx="2798064" cy="64008"/>
          </a:xfrm>
          <a:prstGeom prst="rect">
            <a:avLst/>
          </a:prstGeom>
          <a:solidFill>
            <a:srgbClr val="0D9488"/>
          </a:solidFill>
          <a:ln w="12700">
            <a:solidFill>
              <a:srgbClr val="0D9488"/>
            </a:solidFill>
            <a:prstDash val="solid"/>
          </a:ln>
        </p:spPr>
      </p:sp>
      <p:sp>
        <p:nvSpPr>
          <p:cNvPr id="52" name="Shape 50"/>
          <p:cNvSpPr/>
          <p:nvPr/>
        </p:nvSpPr>
        <p:spPr>
          <a:xfrm>
            <a:off x="3328416" y="2505456"/>
            <a:ext cx="2615184" cy="329184"/>
          </a:xfrm>
          <a:prstGeom prst="rect">
            <a:avLst/>
          </a:prstGeom>
          <a:solidFill>
            <a:srgbClr val="1E293B"/>
          </a:solidFill>
          <a:ln w="12700">
            <a:solidFill>
              <a:srgbClr val="1E293B"/>
            </a:solidFill>
            <a:prstDash val="solid"/>
          </a:ln>
        </p:spPr>
      </p:sp>
      <p:sp>
        <p:nvSpPr>
          <p:cNvPr id="53" name="Text 51"/>
          <p:cNvSpPr/>
          <p:nvPr/>
        </p:nvSpPr>
        <p:spPr>
          <a:xfrm>
            <a:off x="3328416" y="2505456"/>
            <a:ext cx="2615184" cy="329184"/>
          </a:xfrm>
          <a:prstGeom prst="rect">
            <a:avLst/>
          </a:prstGeom>
          <a:noFill/>
          <a:ln/>
        </p:spPr>
        <p:txBody>
          <a:bodyPr wrap="square" lIns="0" tIns="0" rIns="0" bIns="0" rtlCol="0" anchor="ctr"/>
          <a:lstStyle/>
          <a:p>
            <a:pPr algn="ctr" indent="0" marL="0">
              <a:buNone/>
            </a:pPr>
            <a:r>
              <a:rPr lang="en-US" sz="750" dirty="0">
                <a:solidFill>
                  <a:srgbClr val="7DD3FC"/>
                </a:solidFill>
                <a:latin typeface="Consolas" pitchFamily="34" charset="0"/>
                <a:ea typeface="Consolas" pitchFamily="34" charset="-122"/>
                <a:cs typeface="Consolas" pitchFamily="34" charset="-120"/>
              </a:rPr>
              <a:t>Feature Engineering in the App</a:t>
            </a:r>
            <a:endParaRPr lang="en-US" sz="750" dirty="0"/>
          </a:p>
        </p:txBody>
      </p:sp>
      <p:sp>
        <p:nvSpPr>
          <p:cNvPr id="54" name="Text 52"/>
          <p:cNvSpPr/>
          <p:nvPr/>
        </p:nvSpPr>
        <p:spPr>
          <a:xfrm>
            <a:off x="3328416" y="2907792"/>
            <a:ext cx="2615184" cy="19202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Whatever you did in the notebook before calling fit() must be done identically in the app: rename columns, compute delq_severity_score, create has_any_delq. The pipeline does NOT do this automatically.</a:t>
            </a:r>
            <a:endParaRPr lang="en-US" sz="950" dirty="0"/>
          </a:p>
        </p:txBody>
      </p:sp>
      <p:sp>
        <p:nvSpPr>
          <p:cNvPr id="55" name="Shape 53"/>
          <p:cNvSpPr/>
          <p:nvPr/>
        </p:nvSpPr>
        <p:spPr>
          <a:xfrm>
            <a:off x="6199632" y="2377440"/>
            <a:ext cx="2798064" cy="2560320"/>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56" name="Shape 54"/>
          <p:cNvSpPr/>
          <p:nvPr/>
        </p:nvSpPr>
        <p:spPr>
          <a:xfrm>
            <a:off x="6199632" y="2377440"/>
            <a:ext cx="2798064" cy="64008"/>
          </a:xfrm>
          <a:prstGeom prst="rect">
            <a:avLst/>
          </a:prstGeom>
          <a:solidFill>
            <a:srgbClr val="0D9488"/>
          </a:solidFill>
          <a:ln w="12700">
            <a:solidFill>
              <a:srgbClr val="0D9488"/>
            </a:solidFill>
            <a:prstDash val="solid"/>
          </a:ln>
        </p:spPr>
      </p:sp>
      <p:sp>
        <p:nvSpPr>
          <p:cNvPr id="57" name="Shape 55"/>
          <p:cNvSpPr/>
          <p:nvPr/>
        </p:nvSpPr>
        <p:spPr>
          <a:xfrm>
            <a:off x="6291072" y="2505456"/>
            <a:ext cx="2615184" cy="329184"/>
          </a:xfrm>
          <a:prstGeom prst="rect">
            <a:avLst/>
          </a:prstGeom>
          <a:solidFill>
            <a:srgbClr val="1E293B"/>
          </a:solidFill>
          <a:ln w="12700">
            <a:solidFill>
              <a:srgbClr val="1E293B"/>
            </a:solidFill>
            <a:prstDash val="solid"/>
          </a:ln>
        </p:spPr>
      </p:sp>
      <p:sp>
        <p:nvSpPr>
          <p:cNvPr id="58" name="Text 56"/>
          <p:cNvSpPr/>
          <p:nvPr/>
        </p:nvSpPr>
        <p:spPr>
          <a:xfrm>
            <a:off x="6291072" y="2505456"/>
            <a:ext cx="2615184" cy="329184"/>
          </a:xfrm>
          <a:prstGeom prst="rect">
            <a:avLst/>
          </a:prstGeom>
          <a:noFill/>
          <a:ln/>
        </p:spPr>
        <p:txBody>
          <a:bodyPr wrap="square" lIns="0" tIns="0" rIns="0" bIns="0" rtlCol="0" anchor="ctr"/>
          <a:lstStyle/>
          <a:p>
            <a:pPr algn="ctr" indent="0" marL="0">
              <a:buNone/>
            </a:pPr>
            <a:r>
              <a:rPr lang="en-US" sz="750" dirty="0">
                <a:solidFill>
                  <a:srgbClr val="7DD3FC"/>
                </a:solidFill>
                <a:latin typeface="Consolas" pitchFamily="34" charset="0"/>
                <a:ea typeface="Consolas" pitchFamily="34" charset="-122"/>
                <a:cs typeface="Consolas" pitchFamily="34" charset="-120"/>
              </a:rPr>
              <a:t>pipeline.predict_proba(input)[0][1]</a:t>
            </a:r>
            <a:endParaRPr lang="en-US" sz="750" dirty="0"/>
          </a:p>
        </p:txBody>
      </p:sp>
      <p:sp>
        <p:nvSpPr>
          <p:cNvPr id="59" name="Text 57"/>
          <p:cNvSpPr/>
          <p:nvPr/>
        </p:nvSpPr>
        <p:spPr>
          <a:xfrm>
            <a:off x="6291072" y="2907792"/>
            <a:ext cx="2615184" cy="1920240"/>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Pass the user's DataFrame to the loaded pipeline. It runs all preprocessing steps automatically, then returns the probability. [0] = first row, [1] = probability of default (class 1).</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is Streamlit?</a:t>
            </a:r>
            <a:endParaRPr lang="en-US" sz="2200" dirty="0"/>
          </a:p>
        </p:txBody>
      </p:sp>
      <p:sp>
        <p:nvSpPr>
          <p:cNvPr id="4" name="Text 2"/>
          <p:cNvSpPr/>
          <p:nvPr/>
        </p:nvSpPr>
        <p:spPr>
          <a:xfrm>
            <a:off x="365760" y="749808"/>
            <a:ext cx="8412480" cy="384048"/>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 Python library that turns a plain .py script into a web app — no HTML, no JavaScript, no web development knowledge needed.</a:t>
            </a:r>
            <a:endParaRPr lang="en-US" sz="1200" dirty="0"/>
          </a:p>
        </p:txBody>
      </p:sp>
      <p:sp>
        <p:nvSpPr>
          <p:cNvPr id="5" name="Shape 3"/>
          <p:cNvSpPr/>
          <p:nvPr/>
        </p:nvSpPr>
        <p:spPr>
          <a:xfrm>
            <a:off x="274320" y="1243584"/>
            <a:ext cx="4169664" cy="3657600"/>
          </a:xfrm>
          <a:prstGeom prst="rect">
            <a:avLst/>
          </a:prstGeom>
          <a:solidFill>
            <a:srgbClr val="FEE2E2"/>
          </a:solidFill>
          <a:ln w="12700">
            <a:solidFill>
              <a:srgbClr val="FCA5A5"/>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274320" y="1243584"/>
            <a:ext cx="4169664" cy="384048"/>
          </a:xfrm>
          <a:prstGeom prst="rect">
            <a:avLst/>
          </a:prstGeom>
          <a:solidFill>
            <a:srgbClr val="DC2626"/>
          </a:solidFill>
          <a:ln w="12700">
            <a:solidFill>
              <a:srgbClr val="DC2626"/>
            </a:solidFill>
            <a:prstDash val="solid"/>
          </a:ln>
        </p:spPr>
      </p:sp>
      <p:sp>
        <p:nvSpPr>
          <p:cNvPr id="7" name="Text 5"/>
          <p:cNvSpPr/>
          <p:nvPr/>
        </p:nvSpPr>
        <p:spPr>
          <a:xfrm>
            <a:off x="420624" y="1243584"/>
            <a:ext cx="3877056"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Traditional Web Dev</a:t>
            </a:r>
            <a:endParaRPr lang="en-US" sz="1200" dirty="0"/>
          </a:p>
        </p:txBody>
      </p:sp>
      <p:sp>
        <p:nvSpPr>
          <p:cNvPr id="8" name="Text 6"/>
          <p:cNvSpPr/>
          <p:nvPr/>
        </p:nvSpPr>
        <p:spPr>
          <a:xfrm>
            <a:off x="420624" y="17373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Learn HTML, CSS, JavaScript</a:t>
            </a:r>
            <a:endParaRPr lang="en-US" sz="1000" dirty="0"/>
          </a:p>
        </p:txBody>
      </p:sp>
      <p:sp>
        <p:nvSpPr>
          <p:cNvPr id="9" name="Text 7"/>
          <p:cNvSpPr/>
          <p:nvPr/>
        </p:nvSpPr>
        <p:spPr>
          <a:xfrm>
            <a:off x="420624" y="21945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Build a backend in Flask or Django</a:t>
            </a:r>
            <a:endParaRPr lang="en-US" sz="1000" dirty="0"/>
          </a:p>
        </p:txBody>
      </p:sp>
      <p:sp>
        <p:nvSpPr>
          <p:cNvPr id="10" name="Text 8"/>
          <p:cNvSpPr/>
          <p:nvPr/>
        </p:nvSpPr>
        <p:spPr>
          <a:xfrm>
            <a:off x="420624" y="26517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Connect via REST API</a:t>
            </a:r>
            <a:endParaRPr lang="en-US" sz="1000" dirty="0"/>
          </a:p>
        </p:txBody>
      </p:sp>
      <p:sp>
        <p:nvSpPr>
          <p:cNvPr id="11" name="Text 9"/>
          <p:cNvSpPr/>
          <p:nvPr/>
        </p:nvSpPr>
        <p:spPr>
          <a:xfrm>
            <a:off x="420624" y="31089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Handle routing, sessions, auth</a:t>
            </a:r>
            <a:endParaRPr lang="en-US" sz="1000" dirty="0"/>
          </a:p>
        </p:txBody>
      </p:sp>
      <p:sp>
        <p:nvSpPr>
          <p:cNvPr id="12" name="Text 10"/>
          <p:cNvSpPr/>
          <p:nvPr/>
        </p:nvSpPr>
        <p:spPr>
          <a:xfrm>
            <a:off x="420624" y="35661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Deploy to a server with config files</a:t>
            </a:r>
            <a:endParaRPr lang="en-US" sz="1000" dirty="0"/>
          </a:p>
        </p:txBody>
      </p:sp>
      <p:sp>
        <p:nvSpPr>
          <p:cNvPr id="13" name="Text 11"/>
          <p:cNvSpPr/>
          <p:nvPr/>
        </p:nvSpPr>
        <p:spPr>
          <a:xfrm>
            <a:off x="420624" y="4023360"/>
            <a:ext cx="3877056" cy="402336"/>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Weeks before anything is usable</a:t>
            </a:r>
            <a:endParaRPr lang="en-US" sz="1000" dirty="0"/>
          </a:p>
        </p:txBody>
      </p:sp>
      <p:sp>
        <p:nvSpPr>
          <p:cNvPr id="14" name="Shape 12"/>
          <p:cNvSpPr/>
          <p:nvPr/>
        </p:nvSpPr>
        <p:spPr>
          <a:xfrm>
            <a:off x="4718304" y="1243584"/>
            <a:ext cx="4169664" cy="3657600"/>
          </a:xfrm>
          <a:prstGeom prst="rect">
            <a:avLst/>
          </a:prstGeom>
          <a:solidFill>
            <a:srgbClr val="DCFCE7"/>
          </a:solidFill>
          <a:ln w="12700">
            <a:solidFill>
              <a:srgbClr val="BBF7D0"/>
            </a:solidFill>
            <a:prstDash val="solid"/>
          </a:ln>
          <a:effectLst>
            <a:outerShdw sx="100000" sy="100000" kx="0" ky="0" algn="bl" rotWithShape="0" blurRad="76200" dist="38100" dir="8100000">
              <a:srgbClr val="000000">
                <a:alpha val="10000"/>
              </a:srgbClr>
            </a:outerShdw>
          </a:effectLst>
        </p:spPr>
      </p:sp>
      <p:sp>
        <p:nvSpPr>
          <p:cNvPr id="15" name="Shape 13"/>
          <p:cNvSpPr/>
          <p:nvPr/>
        </p:nvSpPr>
        <p:spPr>
          <a:xfrm>
            <a:off x="4718304" y="1243584"/>
            <a:ext cx="4169664" cy="384048"/>
          </a:xfrm>
          <a:prstGeom prst="rect">
            <a:avLst/>
          </a:prstGeom>
          <a:solidFill>
            <a:srgbClr val="16A34A"/>
          </a:solidFill>
          <a:ln w="12700">
            <a:solidFill>
              <a:srgbClr val="16A34A"/>
            </a:solidFill>
            <a:prstDash val="solid"/>
          </a:ln>
        </p:spPr>
      </p:sp>
      <p:sp>
        <p:nvSpPr>
          <p:cNvPr id="16" name="Text 14"/>
          <p:cNvSpPr/>
          <p:nvPr/>
        </p:nvSpPr>
        <p:spPr>
          <a:xfrm>
            <a:off x="4864608" y="1243584"/>
            <a:ext cx="3877056"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With Streamlit</a:t>
            </a:r>
            <a:endParaRPr lang="en-US" sz="1200" dirty="0"/>
          </a:p>
        </p:txBody>
      </p:sp>
      <p:sp>
        <p:nvSpPr>
          <p:cNvPr id="17" name="Text 15"/>
          <p:cNvSpPr/>
          <p:nvPr/>
        </p:nvSpPr>
        <p:spPr>
          <a:xfrm>
            <a:off x="4864608" y="17373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Only Python — nothing else to learn</a:t>
            </a:r>
            <a:endParaRPr lang="en-US" sz="1000" dirty="0"/>
          </a:p>
        </p:txBody>
      </p:sp>
      <p:sp>
        <p:nvSpPr>
          <p:cNvPr id="18" name="Text 16"/>
          <p:cNvSpPr/>
          <p:nvPr/>
        </p:nvSpPr>
        <p:spPr>
          <a:xfrm>
            <a:off x="4864608" y="21945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Write a script like a notebook</a:t>
            </a:r>
            <a:endParaRPr lang="en-US" sz="1000" dirty="0"/>
          </a:p>
        </p:txBody>
      </p:sp>
      <p:sp>
        <p:nvSpPr>
          <p:cNvPr id="19" name="Text 17"/>
          <p:cNvSpPr/>
          <p:nvPr/>
        </p:nvSpPr>
        <p:spPr>
          <a:xfrm>
            <a:off x="4864608" y="26517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One terminal command to run</a:t>
            </a:r>
            <a:endParaRPr lang="en-US" sz="1000" dirty="0"/>
          </a:p>
        </p:txBody>
      </p:sp>
      <p:sp>
        <p:nvSpPr>
          <p:cNvPr id="20" name="Text 18"/>
          <p:cNvSpPr/>
          <p:nvPr/>
        </p:nvSpPr>
        <p:spPr>
          <a:xfrm>
            <a:off x="4864608" y="31089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Inputs, buttons, charts all built in</a:t>
            </a:r>
            <a:endParaRPr lang="en-US" sz="1000" dirty="0"/>
          </a:p>
        </p:txBody>
      </p:sp>
      <p:sp>
        <p:nvSpPr>
          <p:cNvPr id="21" name="Text 19"/>
          <p:cNvSpPr/>
          <p:nvPr/>
        </p:nvSpPr>
        <p:spPr>
          <a:xfrm>
            <a:off x="4864608" y="35661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Save the file → app reloads instantly</a:t>
            </a:r>
            <a:endParaRPr lang="en-US" sz="1000" dirty="0"/>
          </a:p>
        </p:txBody>
      </p:sp>
      <p:sp>
        <p:nvSpPr>
          <p:cNvPr id="22" name="Text 20"/>
          <p:cNvSpPr/>
          <p:nvPr/>
        </p:nvSpPr>
        <p:spPr>
          <a:xfrm>
            <a:off x="4864608" y="4023360"/>
            <a:ext cx="3877056" cy="402336"/>
          </a:xfrm>
          <a:prstGeom prst="rect">
            <a:avLst/>
          </a:prstGeom>
          <a:noFill/>
          <a:ln/>
        </p:spPr>
        <p:txBody>
          <a:bodyPr wrap="square" lIns="0" tIns="0" rIns="0" bIns="0" rtlCol="0" anchor="ctr"/>
          <a:lstStyle/>
          <a:p>
            <a:pPr indent="0" marL="0">
              <a:buNone/>
            </a:pPr>
            <a:r>
              <a:rPr lang="en-US" sz="1000" b="1" dirty="0">
                <a:solidFill>
                  <a:srgbClr val="16A34A"/>
                </a:solidFill>
                <a:latin typeface="Calibri" pitchFamily="34" charset="0"/>
                <a:ea typeface="Calibri" pitchFamily="34" charset="-122"/>
                <a:cs typeface="Calibri" pitchFamily="34" charset="-120"/>
              </a:rPr>
              <a:t>✓  </a:t>
            </a:r>
            <a:pPr indent="0" marL="0">
              <a:buNone/>
            </a:pPr>
            <a:r>
              <a:rPr lang="en-US" sz="1000" dirty="0">
                <a:solidFill>
                  <a:srgbClr val="0F172A"/>
                </a:solidFill>
                <a:latin typeface="Calibri" pitchFamily="34" charset="0"/>
                <a:ea typeface="Calibri" pitchFamily="34" charset="-122"/>
                <a:cs typeface="Calibri" pitchFamily="34" charset="-120"/>
              </a:rPr>
              <a:t>Working app in under an hour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Run the App — Commands One by One</a:t>
            </a:r>
            <a:endParaRPr lang="en-US" sz="2200" dirty="0"/>
          </a:p>
        </p:txBody>
      </p:sp>
      <p:sp>
        <p:nvSpPr>
          <p:cNvPr id="4" name="Text 2"/>
          <p:cNvSpPr/>
          <p:nvPr/>
        </p:nvSpPr>
        <p:spPr>
          <a:xfrm>
            <a:off x="365760" y="749808"/>
            <a:ext cx="8412480" cy="32918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Open a terminal in your project folder and run these commands in order.</a:t>
            </a:r>
            <a:endParaRPr lang="en-US" sz="1150" dirty="0"/>
          </a:p>
        </p:txBody>
      </p:sp>
      <p:sp>
        <p:nvSpPr>
          <p:cNvPr id="5" name="Shape 3"/>
          <p:cNvSpPr/>
          <p:nvPr/>
        </p:nvSpPr>
        <p:spPr>
          <a:xfrm>
            <a:off x="274320" y="1170432"/>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6" name="Shape 4"/>
          <p:cNvSpPr/>
          <p:nvPr/>
        </p:nvSpPr>
        <p:spPr>
          <a:xfrm>
            <a:off x="402336" y="1298448"/>
            <a:ext cx="329184" cy="329184"/>
          </a:xfrm>
          <a:prstGeom prst="ellipse">
            <a:avLst/>
          </a:prstGeom>
          <a:solidFill>
            <a:srgbClr val="1B2A4A"/>
          </a:solidFill>
          <a:ln w="12700">
            <a:solidFill>
              <a:srgbClr val="1B2A4A"/>
            </a:solidFill>
            <a:prstDash val="solid"/>
          </a:ln>
        </p:spPr>
      </p:sp>
      <p:sp>
        <p:nvSpPr>
          <p:cNvPr id="7" name="Text 5"/>
          <p:cNvSpPr/>
          <p:nvPr/>
        </p:nvSpPr>
        <p:spPr>
          <a:xfrm>
            <a:off x="402336" y="1298448"/>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261872"/>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Install Streamlit (once)</a:t>
            </a:r>
            <a:endParaRPr lang="en-US" sz="1050" dirty="0"/>
          </a:p>
        </p:txBody>
      </p:sp>
      <p:sp>
        <p:nvSpPr>
          <p:cNvPr id="9" name="Shape 7"/>
          <p:cNvSpPr/>
          <p:nvPr/>
        </p:nvSpPr>
        <p:spPr>
          <a:xfrm>
            <a:off x="402336" y="1609344"/>
            <a:ext cx="3913632" cy="292608"/>
          </a:xfrm>
          <a:prstGeom prst="rect">
            <a:avLst/>
          </a:prstGeom>
          <a:solidFill>
            <a:srgbClr val="1E293B"/>
          </a:solidFill>
          <a:ln w="12700">
            <a:solidFill>
              <a:srgbClr val="1E293B"/>
            </a:solidFill>
            <a:prstDash val="solid"/>
          </a:ln>
        </p:spPr>
      </p:sp>
      <p:sp>
        <p:nvSpPr>
          <p:cNvPr id="10" name="Text 8"/>
          <p:cNvSpPr/>
          <p:nvPr/>
        </p:nvSpPr>
        <p:spPr>
          <a:xfrm>
            <a:off x="402336" y="1609344"/>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pip install streamlit</a:t>
            </a:r>
            <a:endParaRPr lang="en-US" sz="950" dirty="0"/>
          </a:p>
        </p:txBody>
      </p:sp>
      <p:sp>
        <p:nvSpPr>
          <p:cNvPr id="11" name="Text 9"/>
          <p:cNvSpPr/>
          <p:nvPr/>
        </p:nvSpPr>
        <p:spPr>
          <a:xfrm>
            <a:off x="402336" y="1956816"/>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Run this one time on your machine. Adds the streamlit library to your Python environment.</a:t>
            </a:r>
            <a:endParaRPr lang="en-US" sz="850" dirty="0"/>
          </a:p>
        </p:txBody>
      </p:sp>
      <p:sp>
        <p:nvSpPr>
          <p:cNvPr id="12" name="Shape 10"/>
          <p:cNvSpPr/>
          <p:nvPr/>
        </p:nvSpPr>
        <p:spPr>
          <a:xfrm>
            <a:off x="274320" y="2487168"/>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13" name="Shape 11"/>
          <p:cNvSpPr/>
          <p:nvPr/>
        </p:nvSpPr>
        <p:spPr>
          <a:xfrm>
            <a:off x="402336" y="2615184"/>
            <a:ext cx="329184" cy="329184"/>
          </a:xfrm>
          <a:prstGeom prst="ellipse">
            <a:avLst/>
          </a:prstGeom>
          <a:solidFill>
            <a:srgbClr val="1B2A4A"/>
          </a:solidFill>
          <a:ln w="12700">
            <a:solidFill>
              <a:srgbClr val="1B2A4A"/>
            </a:solidFill>
            <a:prstDash val="solid"/>
          </a:ln>
        </p:spPr>
      </p:sp>
      <p:sp>
        <p:nvSpPr>
          <p:cNvPr id="14" name="Text 12"/>
          <p:cNvSpPr/>
          <p:nvPr/>
        </p:nvSpPr>
        <p:spPr>
          <a:xfrm>
            <a:off x="402336" y="2615184"/>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2</a:t>
            </a:r>
            <a:endParaRPr lang="en-US" sz="1000" dirty="0"/>
          </a:p>
        </p:txBody>
      </p:sp>
      <p:sp>
        <p:nvSpPr>
          <p:cNvPr id="15" name="Text 13"/>
          <p:cNvSpPr/>
          <p:nvPr/>
        </p:nvSpPr>
        <p:spPr>
          <a:xfrm>
            <a:off x="822960" y="2578608"/>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Navigate to your project folder</a:t>
            </a:r>
            <a:endParaRPr lang="en-US" sz="1050" dirty="0"/>
          </a:p>
        </p:txBody>
      </p:sp>
      <p:sp>
        <p:nvSpPr>
          <p:cNvPr id="16" name="Shape 14"/>
          <p:cNvSpPr/>
          <p:nvPr/>
        </p:nvSpPr>
        <p:spPr>
          <a:xfrm>
            <a:off x="402336" y="2926080"/>
            <a:ext cx="3913632" cy="292608"/>
          </a:xfrm>
          <a:prstGeom prst="rect">
            <a:avLst/>
          </a:prstGeom>
          <a:solidFill>
            <a:srgbClr val="1E293B"/>
          </a:solidFill>
          <a:ln w="12700">
            <a:solidFill>
              <a:srgbClr val="1E293B"/>
            </a:solidFill>
            <a:prstDash val="solid"/>
          </a:ln>
        </p:spPr>
      </p:sp>
      <p:sp>
        <p:nvSpPr>
          <p:cNvPr id="17" name="Text 15"/>
          <p:cNvSpPr/>
          <p:nvPr/>
        </p:nvSpPr>
        <p:spPr>
          <a:xfrm>
            <a:off x="402336" y="2926080"/>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cd path/to/group_project/scripts</a:t>
            </a:r>
            <a:endParaRPr lang="en-US" sz="950" dirty="0"/>
          </a:p>
        </p:txBody>
      </p:sp>
      <p:sp>
        <p:nvSpPr>
          <p:cNvPr id="18" name="Text 16"/>
          <p:cNvSpPr/>
          <p:nvPr/>
        </p:nvSpPr>
        <p:spPr>
          <a:xfrm>
            <a:off x="402336" y="3273552"/>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Make sure you are in the folder that contains app_simple.py or app_credit_risk.py.</a:t>
            </a:r>
            <a:endParaRPr lang="en-US" sz="850" dirty="0"/>
          </a:p>
        </p:txBody>
      </p:sp>
      <p:sp>
        <p:nvSpPr>
          <p:cNvPr id="19" name="Shape 17"/>
          <p:cNvSpPr/>
          <p:nvPr/>
        </p:nvSpPr>
        <p:spPr>
          <a:xfrm>
            <a:off x="274320" y="3803904"/>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0" name="Shape 18"/>
          <p:cNvSpPr/>
          <p:nvPr/>
        </p:nvSpPr>
        <p:spPr>
          <a:xfrm>
            <a:off x="402336" y="3931920"/>
            <a:ext cx="329184" cy="329184"/>
          </a:xfrm>
          <a:prstGeom prst="ellipse">
            <a:avLst/>
          </a:prstGeom>
          <a:solidFill>
            <a:srgbClr val="1B2A4A"/>
          </a:solidFill>
          <a:ln w="12700">
            <a:solidFill>
              <a:srgbClr val="1B2A4A"/>
            </a:solidFill>
            <a:prstDash val="solid"/>
          </a:ln>
        </p:spPr>
      </p:sp>
      <p:sp>
        <p:nvSpPr>
          <p:cNvPr id="21" name="Text 19"/>
          <p:cNvSpPr/>
          <p:nvPr/>
        </p:nvSpPr>
        <p:spPr>
          <a:xfrm>
            <a:off x="402336" y="3931920"/>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822960" y="3895344"/>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Run the simple calculator app first</a:t>
            </a:r>
            <a:endParaRPr lang="en-US" sz="1050" dirty="0"/>
          </a:p>
        </p:txBody>
      </p:sp>
      <p:sp>
        <p:nvSpPr>
          <p:cNvPr id="23" name="Shape 21"/>
          <p:cNvSpPr/>
          <p:nvPr/>
        </p:nvSpPr>
        <p:spPr>
          <a:xfrm>
            <a:off x="402336" y="4242816"/>
            <a:ext cx="3913632" cy="292608"/>
          </a:xfrm>
          <a:prstGeom prst="rect">
            <a:avLst/>
          </a:prstGeom>
          <a:solidFill>
            <a:srgbClr val="1E293B"/>
          </a:solidFill>
          <a:ln w="12700">
            <a:solidFill>
              <a:srgbClr val="1E293B"/>
            </a:solidFill>
            <a:prstDash val="solid"/>
          </a:ln>
        </p:spPr>
      </p:sp>
      <p:sp>
        <p:nvSpPr>
          <p:cNvPr id="24" name="Text 22"/>
          <p:cNvSpPr/>
          <p:nvPr/>
        </p:nvSpPr>
        <p:spPr>
          <a:xfrm>
            <a:off x="402336" y="4242816"/>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streamlit run app_simple.py</a:t>
            </a:r>
            <a:endParaRPr lang="en-US" sz="950" dirty="0"/>
          </a:p>
        </p:txBody>
      </p:sp>
      <p:sp>
        <p:nvSpPr>
          <p:cNvPr id="25" name="Text 23"/>
          <p:cNvSpPr/>
          <p:nvPr/>
        </p:nvSpPr>
        <p:spPr>
          <a:xfrm>
            <a:off x="402336" y="4590288"/>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Streamlit starts a local web server and opens the app in your browser automatically at localhost:8501.</a:t>
            </a:r>
            <a:endParaRPr lang="en-US" sz="850" dirty="0"/>
          </a:p>
        </p:txBody>
      </p:sp>
      <p:sp>
        <p:nvSpPr>
          <p:cNvPr id="26" name="Shape 24"/>
          <p:cNvSpPr/>
          <p:nvPr/>
        </p:nvSpPr>
        <p:spPr>
          <a:xfrm>
            <a:off x="4846320" y="1170432"/>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7" name="Shape 25"/>
          <p:cNvSpPr/>
          <p:nvPr/>
        </p:nvSpPr>
        <p:spPr>
          <a:xfrm>
            <a:off x="4974336" y="1298448"/>
            <a:ext cx="329184" cy="329184"/>
          </a:xfrm>
          <a:prstGeom prst="ellipse">
            <a:avLst/>
          </a:prstGeom>
          <a:solidFill>
            <a:srgbClr val="1B2A4A"/>
          </a:solidFill>
          <a:ln w="12700">
            <a:solidFill>
              <a:srgbClr val="1B2A4A"/>
            </a:solidFill>
            <a:prstDash val="solid"/>
          </a:ln>
        </p:spPr>
      </p:sp>
      <p:sp>
        <p:nvSpPr>
          <p:cNvPr id="28" name="Text 26"/>
          <p:cNvSpPr/>
          <p:nvPr/>
        </p:nvSpPr>
        <p:spPr>
          <a:xfrm>
            <a:off x="4974336" y="1298448"/>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5394960" y="1261872"/>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The browser opens automatically</a:t>
            </a:r>
            <a:endParaRPr lang="en-US" sz="1050" dirty="0"/>
          </a:p>
        </p:txBody>
      </p:sp>
      <p:sp>
        <p:nvSpPr>
          <p:cNvPr id="30" name="Shape 28"/>
          <p:cNvSpPr/>
          <p:nvPr/>
        </p:nvSpPr>
        <p:spPr>
          <a:xfrm>
            <a:off x="4974336" y="1609344"/>
            <a:ext cx="3913632" cy="292608"/>
          </a:xfrm>
          <a:prstGeom prst="rect">
            <a:avLst/>
          </a:prstGeom>
          <a:solidFill>
            <a:srgbClr val="1E293B"/>
          </a:solidFill>
          <a:ln w="12700">
            <a:solidFill>
              <a:srgbClr val="1E293B"/>
            </a:solidFill>
            <a:prstDash val="solid"/>
          </a:ln>
        </p:spPr>
      </p:sp>
      <p:sp>
        <p:nvSpPr>
          <p:cNvPr id="31" name="Text 29"/>
          <p:cNvSpPr/>
          <p:nvPr/>
        </p:nvSpPr>
        <p:spPr>
          <a:xfrm>
            <a:off x="4974336" y="1609344"/>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http://localhost:8501</a:t>
            </a:r>
            <a:endParaRPr lang="en-US" sz="950" dirty="0"/>
          </a:p>
        </p:txBody>
      </p:sp>
      <p:sp>
        <p:nvSpPr>
          <p:cNvPr id="32" name="Text 30"/>
          <p:cNvSpPr/>
          <p:nvPr/>
        </p:nvSpPr>
        <p:spPr>
          <a:xfrm>
            <a:off x="4974336" y="1956816"/>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If the browser does not open, copy this address and paste it manually.</a:t>
            </a:r>
            <a:endParaRPr lang="en-US" sz="850" dirty="0"/>
          </a:p>
        </p:txBody>
      </p:sp>
      <p:sp>
        <p:nvSpPr>
          <p:cNvPr id="33" name="Shape 31"/>
          <p:cNvSpPr/>
          <p:nvPr/>
        </p:nvSpPr>
        <p:spPr>
          <a:xfrm>
            <a:off x="4846320" y="2487168"/>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34" name="Shape 32"/>
          <p:cNvSpPr/>
          <p:nvPr/>
        </p:nvSpPr>
        <p:spPr>
          <a:xfrm>
            <a:off x="4974336" y="2615184"/>
            <a:ext cx="329184" cy="329184"/>
          </a:xfrm>
          <a:prstGeom prst="ellipse">
            <a:avLst/>
          </a:prstGeom>
          <a:solidFill>
            <a:srgbClr val="1B2A4A"/>
          </a:solidFill>
          <a:ln w="12700">
            <a:solidFill>
              <a:srgbClr val="1B2A4A"/>
            </a:solidFill>
            <a:prstDash val="solid"/>
          </a:ln>
        </p:spPr>
      </p:sp>
      <p:sp>
        <p:nvSpPr>
          <p:cNvPr id="35" name="Text 33"/>
          <p:cNvSpPr/>
          <p:nvPr/>
        </p:nvSpPr>
        <p:spPr>
          <a:xfrm>
            <a:off x="4974336" y="2615184"/>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5</a:t>
            </a:r>
            <a:endParaRPr lang="en-US" sz="1000" dirty="0"/>
          </a:p>
        </p:txBody>
      </p:sp>
      <p:sp>
        <p:nvSpPr>
          <p:cNvPr id="36" name="Text 34"/>
          <p:cNvSpPr/>
          <p:nvPr/>
        </p:nvSpPr>
        <p:spPr>
          <a:xfrm>
            <a:off x="5394960" y="2578608"/>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Run the credit risk app</a:t>
            </a:r>
            <a:endParaRPr lang="en-US" sz="1050" dirty="0"/>
          </a:p>
        </p:txBody>
      </p:sp>
      <p:sp>
        <p:nvSpPr>
          <p:cNvPr id="37" name="Shape 35"/>
          <p:cNvSpPr/>
          <p:nvPr/>
        </p:nvSpPr>
        <p:spPr>
          <a:xfrm>
            <a:off x="4974336" y="2926080"/>
            <a:ext cx="3913632" cy="292608"/>
          </a:xfrm>
          <a:prstGeom prst="rect">
            <a:avLst/>
          </a:prstGeom>
          <a:solidFill>
            <a:srgbClr val="1E293B"/>
          </a:solidFill>
          <a:ln w="12700">
            <a:solidFill>
              <a:srgbClr val="1E293B"/>
            </a:solidFill>
            <a:prstDash val="solid"/>
          </a:ln>
        </p:spPr>
      </p:sp>
      <p:sp>
        <p:nvSpPr>
          <p:cNvPr id="38" name="Text 36"/>
          <p:cNvSpPr/>
          <p:nvPr/>
        </p:nvSpPr>
        <p:spPr>
          <a:xfrm>
            <a:off x="4974336" y="2926080"/>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streamlit run app_credit_risk.py</a:t>
            </a:r>
            <a:endParaRPr lang="en-US" sz="950" dirty="0"/>
          </a:p>
        </p:txBody>
      </p:sp>
      <p:sp>
        <p:nvSpPr>
          <p:cNvPr id="39" name="Text 37"/>
          <p:cNvSpPr/>
          <p:nvPr/>
        </p:nvSpPr>
        <p:spPr>
          <a:xfrm>
            <a:off x="4974336" y="3273552"/>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Same command, different file. Make sure best_pipeline_v2.pkl is in the same folder.</a:t>
            </a:r>
            <a:endParaRPr lang="en-US" sz="850" dirty="0"/>
          </a:p>
        </p:txBody>
      </p:sp>
      <p:sp>
        <p:nvSpPr>
          <p:cNvPr id="40" name="Shape 38"/>
          <p:cNvSpPr/>
          <p:nvPr/>
        </p:nvSpPr>
        <p:spPr>
          <a:xfrm>
            <a:off x="4846320" y="3803904"/>
            <a:ext cx="4169664" cy="120700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41" name="Shape 39"/>
          <p:cNvSpPr/>
          <p:nvPr/>
        </p:nvSpPr>
        <p:spPr>
          <a:xfrm>
            <a:off x="4974336" y="3931920"/>
            <a:ext cx="329184" cy="329184"/>
          </a:xfrm>
          <a:prstGeom prst="ellipse">
            <a:avLst/>
          </a:prstGeom>
          <a:solidFill>
            <a:srgbClr val="1B2A4A"/>
          </a:solidFill>
          <a:ln w="12700">
            <a:solidFill>
              <a:srgbClr val="1B2A4A"/>
            </a:solidFill>
            <a:prstDash val="solid"/>
          </a:ln>
        </p:spPr>
      </p:sp>
      <p:sp>
        <p:nvSpPr>
          <p:cNvPr id="42" name="Text 40"/>
          <p:cNvSpPr/>
          <p:nvPr/>
        </p:nvSpPr>
        <p:spPr>
          <a:xfrm>
            <a:off x="4974336" y="3931920"/>
            <a:ext cx="329184" cy="329184"/>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6</a:t>
            </a:r>
            <a:endParaRPr lang="en-US" sz="1000" dirty="0"/>
          </a:p>
        </p:txBody>
      </p:sp>
      <p:sp>
        <p:nvSpPr>
          <p:cNvPr id="43" name="Text 41"/>
          <p:cNvSpPr/>
          <p:nvPr/>
        </p:nvSpPr>
        <p:spPr>
          <a:xfrm>
            <a:off x="5394960" y="3895344"/>
            <a:ext cx="3474720" cy="29260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Stop the app</a:t>
            </a:r>
            <a:endParaRPr lang="en-US" sz="1050" dirty="0"/>
          </a:p>
        </p:txBody>
      </p:sp>
      <p:sp>
        <p:nvSpPr>
          <p:cNvPr id="44" name="Shape 42"/>
          <p:cNvSpPr/>
          <p:nvPr/>
        </p:nvSpPr>
        <p:spPr>
          <a:xfrm>
            <a:off x="4974336" y="4242816"/>
            <a:ext cx="3913632" cy="292608"/>
          </a:xfrm>
          <a:prstGeom prst="rect">
            <a:avLst/>
          </a:prstGeom>
          <a:solidFill>
            <a:srgbClr val="1E293B"/>
          </a:solidFill>
          <a:ln w="12700">
            <a:solidFill>
              <a:srgbClr val="1E293B"/>
            </a:solidFill>
            <a:prstDash val="solid"/>
          </a:ln>
        </p:spPr>
      </p:sp>
      <p:sp>
        <p:nvSpPr>
          <p:cNvPr id="45" name="Text 43"/>
          <p:cNvSpPr/>
          <p:nvPr/>
        </p:nvSpPr>
        <p:spPr>
          <a:xfrm>
            <a:off x="4974336" y="4242816"/>
            <a:ext cx="3913632" cy="292608"/>
          </a:xfrm>
          <a:prstGeom prst="rect">
            <a:avLst/>
          </a:prstGeom>
          <a:noFill/>
          <a:ln/>
        </p:spPr>
        <p:txBody>
          <a:bodyPr wrap="square" lIns="0" tIns="0" rIns="0" bIns="0" rtlCol="0" anchor="ctr"/>
          <a:lstStyle/>
          <a:p>
            <a:pPr algn="ctr" indent="0" marL="0">
              <a:buNone/>
            </a:pPr>
            <a:r>
              <a:rPr lang="en-US" sz="950" dirty="0">
                <a:solidFill>
                  <a:srgbClr val="7DD3FC"/>
                </a:solidFill>
                <a:latin typeface="Consolas" pitchFamily="34" charset="0"/>
                <a:ea typeface="Consolas" pitchFamily="34" charset="-122"/>
                <a:cs typeface="Consolas" pitchFamily="34" charset="-120"/>
              </a:rPr>
              <a:t>Ctrl + C   (in terminal)</a:t>
            </a:r>
            <a:endParaRPr lang="en-US" sz="950" dirty="0"/>
          </a:p>
        </p:txBody>
      </p:sp>
      <p:sp>
        <p:nvSpPr>
          <p:cNvPr id="46" name="Text 44"/>
          <p:cNvSpPr/>
          <p:nvPr/>
        </p:nvSpPr>
        <p:spPr>
          <a:xfrm>
            <a:off x="4974336" y="4590288"/>
            <a:ext cx="3913632" cy="34747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Press these keys in the terminal window where Streamlit is running. The browser tab will disconnect.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app_simple.py — Learn Streamlit With a Calculator</a:t>
            </a:r>
            <a:endParaRPr lang="en-US" sz="2200" dirty="0"/>
          </a:p>
        </p:txBody>
      </p:sp>
      <p:sp>
        <p:nvSpPr>
          <p:cNvPr id="4" name="Text 2"/>
          <p:cNvSpPr/>
          <p:nvPr/>
        </p:nvSpPr>
        <p:spPr>
          <a:xfrm>
            <a:off x="365760" y="749808"/>
            <a:ext cx="8412480" cy="347472"/>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Start here. No ML, no styling, no background. Just a plain script that shows how every piece of Streamlit works.</a:t>
            </a:r>
            <a:endParaRPr lang="en-US" sz="1150" dirty="0"/>
          </a:p>
        </p:txBody>
      </p:sp>
      <p:sp>
        <p:nvSpPr>
          <p:cNvPr id="5" name="Shape 3"/>
          <p:cNvSpPr/>
          <p:nvPr/>
        </p:nvSpPr>
        <p:spPr>
          <a:xfrm>
            <a:off x="274320" y="1188720"/>
            <a:ext cx="4572000" cy="3703320"/>
          </a:xfrm>
          <a:prstGeom prst="rect">
            <a:avLst/>
          </a:prstGeom>
          <a:solidFill>
            <a:srgbClr val="1E293B"/>
          </a:solidFill>
          <a:ln w="12700">
            <a:solidFill>
              <a:srgbClr val="1E293B"/>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274320" y="1188720"/>
            <a:ext cx="4572000" cy="274320"/>
          </a:xfrm>
          <a:prstGeom prst="rect">
            <a:avLst/>
          </a:prstGeom>
          <a:noFill/>
          <a:ln/>
        </p:spPr>
        <p:txBody>
          <a:bodyPr wrap="square" lIns="0" tIns="0" rIns="0" bIns="0" rtlCol="0" anchor="ctr"/>
          <a:lstStyle/>
          <a:p>
            <a:pPr algn="ctr" indent="0" marL="0">
              <a:buNone/>
            </a:pPr>
            <a:r>
              <a:rPr lang="en-US" sz="850" b="1" dirty="0">
                <a:solidFill>
                  <a:srgbClr val="0D9488"/>
                </a:solidFill>
                <a:latin typeface="Consolas" pitchFamily="34" charset="0"/>
                <a:ea typeface="Consolas" pitchFamily="34" charset="-122"/>
                <a:cs typeface="Consolas" pitchFamily="34" charset="-120"/>
              </a:rPr>
              <a:t>app_simple.py</a:t>
            </a:r>
            <a:endParaRPr lang="en-US" sz="850" dirty="0"/>
          </a:p>
        </p:txBody>
      </p:sp>
      <p:sp>
        <p:nvSpPr>
          <p:cNvPr id="7" name="Text 5"/>
          <p:cNvSpPr/>
          <p:nvPr/>
        </p:nvSpPr>
        <p:spPr>
          <a:xfrm>
            <a:off x="402336" y="1499616"/>
            <a:ext cx="4315968" cy="182880"/>
          </a:xfrm>
          <a:prstGeom prst="rect">
            <a:avLst/>
          </a:prstGeom>
          <a:noFill/>
          <a:ln/>
        </p:spPr>
        <p:txBody>
          <a:bodyPr wrap="square" lIns="0" tIns="0" rIns="0" bIns="0" rtlCol="0" anchor="t"/>
          <a:lstStyle/>
          <a:p>
            <a:pPr indent="0" marL="0">
              <a:buNone/>
            </a:pPr>
            <a:r>
              <a:rPr lang="en-US" sz="850" dirty="0">
                <a:solidFill>
                  <a:srgbClr val="C084FC"/>
                </a:solidFill>
                <a:latin typeface="Consolas" pitchFamily="34" charset="0"/>
                <a:ea typeface="Consolas" pitchFamily="34" charset="-122"/>
                <a:cs typeface="Consolas" pitchFamily="34" charset="-120"/>
              </a:rPr>
              <a:t>import </a:t>
            </a:r>
            <a:pPr indent="0" marL="0">
              <a:buNone/>
            </a:pPr>
            <a:r>
              <a:rPr lang="en-US" sz="850" dirty="0">
                <a:solidFill>
                  <a:srgbClr val="FFFFFF"/>
                </a:solidFill>
                <a:latin typeface="Consolas" pitchFamily="34" charset="0"/>
                <a:ea typeface="Consolas" pitchFamily="34" charset="-122"/>
                <a:cs typeface="Consolas" pitchFamily="34" charset="-120"/>
              </a:rPr>
              <a:t>streamlit </a:t>
            </a:r>
            <a:pPr indent="0" marL="0">
              <a:buNone/>
            </a:pPr>
            <a:r>
              <a:rPr lang="en-US" sz="850" dirty="0">
                <a:solidFill>
                  <a:srgbClr val="C084FC"/>
                </a:solidFill>
                <a:latin typeface="Consolas" pitchFamily="34" charset="0"/>
                <a:ea typeface="Consolas" pitchFamily="34" charset="-122"/>
                <a:cs typeface="Consolas" pitchFamily="34" charset="-120"/>
              </a:rPr>
              <a:t>as </a:t>
            </a:r>
            <a:pPr indent="0" marL="0">
              <a:buNone/>
            </a:pPr>
            <a:r>
              <a:rPr lang="en-US" sz="850" dirty="0">
                <a:solidFill>
                  <a:srgbClr val="7DD3FC"/>
                </a:solidFill>
                <a:latin typeface="Consolas" pitchFamily="34" charset="0"/>
                <a:ea typeface="Consolas" pitchFamily="34" charset="-122"/>
                <a:cs typeface="Consolas" pitchFamily="34" charset="-120"/>
              </a:rPr>
              <a:t>st</a:t>
            </a:r>
            <a:endParaRPr lang="en-US" sz="850" dirty="0"/>
          </a:p>
        </p:txBody>
      </p:sp>
      <p:sp>
        <p:nvSpPr>
          <p:cNvPr id="8" name="Text 6"/>
          <p:cNvSpPr/>
          <p:nvPr/>
        </p:nvSpPr>
        <p:spPr>
          <a:xfrm>
            <a:off x="402336" y="1691640"/>
            <a:ext cx="4315968" cy="182880"/>
          </a:xfrm>
          <a:prstGeom prst="rect">
            <a:avLst/>
          </a:prstGeom>
          <a:noFill/>
          <a:ln/>
        </p:spPr>
        <p:txBody>
          <a:bodyPr wrap="square" lIns="0" tIns="0" rIns="0" bIns="0" rtlCol="0" anchor="t"/>
          <a:lstStyle/>
          <a:p>
            <a:pPr indent="0" marL="0">
              <a:buNone/>
            </a:pPr>
            <a:endParaRPr lang="en-US" sz="850" dirty="0"/>
          </a:p>
        </p:txBody>
      </p:sp>
      <p:sp>
        <p:nvSpPr>
          <p:cNvPr id="9" name="Text 7"/>
          <p:cNvSpPr/>
          <p:nvPr/>
        </p:nvSpPr>
        <p:spPr>
          <a:xfrm>
            <a:off x="402336" y="1883664"/>
            <a:ext cx="4315968" cy="182880"/>
          </a:xfrm>
          <a:prstGeom prst="rect">
            <a:avLst/>
          </a:prstGeom>
          <a:noFill/>
          <a:ln/>
        </p:spPr>
        <p:txBody>
          <a:bodyPr wrap="square" lIns="0" tIns="0" rIns="0" bIns="0" rtlCol="0" anchor="t"/>
          <a:lstStyle/>
          <a:p>
            <a:pPr indent="0" marL="0">
              <a:buNone/>
            </a:pPr>
            <a:r>
              <a:rPr lang="en-US" sz="850" dirty="0">
                <a:solidFill>
                  <a:srgbClr val="FCD34D"/>
                </a:solidFill>
                <a:latin typeface="Consolas" pitchFamily="34" charset="0"/>
                <a:ea typeface="Consolas" pitchFamily="34" charset="-122"/>
                <a:cs typeface="Consolas" pitchFamily="34" charset="-120"/>
              </a:rPr>
              <a:t>st.title</a:t>
            </a:r>
            <a:pPr indent="0" marL="0">
              <a:buNone/>
            </a:pPr>
            <a:r>
              <a:rPr lang="en-US" sz="850" dirty="0">
                <a:solidFill>
                  <a:srgbClr val="FFFFFF"/>
                </a:solidFill>
                <a:latin typeface="Consolas" pitchFamily="34" charset="0"/>
                <a:ea typeface="Consolas" pitchFamily="34" charset="-122"/>
                <a:cs typeface="Consolas" pitchFamily="34" charset="-120"/>
              </a:rPr>
              <a:t>("Simple Calculator")</a:t>
            </a:r>
            <a:endParaRPr lang="en-US" sz="850" dirty="0"/>
          </a:p>
        </p:txBody>
      </p:sp>
      <p:sp>
        <p:nvSpPr>
          <p:cNvPr id="10" name="Text 8"/>
          <p:cNvSpPr/>
          <p:nvPr/>
        </p:nvSpPr>
        <p:spPr>
          <a:xfrm>
            <a:off x="402336" y="2075688"/>
            <a:ext cx="4315968" cy="182880"/>
          </a:xfrm>
          <a:prstGeom prst="rect">
            <a:avLst/>
          </a:prstGeom>
          <a:noFill/>
          <a:ln/>
        </p:spPr>
        <p:txBody>
          <a:bodyPr wrap="square" lIns="0" tIns="0" rIns="0" bIns="0" rtlCol="0" anchor="t"/>
          <a:lstStyle/>
          <a:p>
            <a:pPr indent="0" marL="0">
              <a:buNone/>
            </a:pPr>
            <a:r>
              <a:rPr lang="en-US" sz="850" dirty="0">
                <a:solidFill>
                  <a:srgbClr val="FCD34D"/>
                </a:solidFill>
                <a:latin typeface="Consolas" pitchFamily="34" charset="0"/>
                <a:ea typeface="Consolas" pitchFamily="34" charset="-122"/>
                <a:cs typeface="Consolas" pitchFamily="34" charset="-120"/>
              </a:rPr>
              <a:t>st.write</a:t>
            </a:r>
            <a:pPr indent="0" marL="0">
              <a:buNone/>
            </a:pPr>
            <a:r>
              <a:rPr lang="en-US" sz="850" dirty="0">
                <a:solidFill>
                  <a:srgbClr val="FFFFFF"/>
                </a:solidFill>
                <a:latin typeface="Consolas" pitchFamily="34" charset="0"/>
                <a:ea typeface="Consolas" pitchFamily="34" charset="-122"/>
                <a:cs typeface="Consolas" pitchFamily="34" charset="-120"/>
              </a:rPr>
              <a:t>("Enter two numbers.")</a:t>
            </a:r>
            <a:endParaRPr lang="en-US" sz="850" dirty="0"/>
          </a:p>
        </p:txBody>
      </p:sp>
      <p:sp>
        <p:nvSpPr>
          <p:cNvPr id="11" name="Text 9"/>
          <p:cNvSpPr/>
          <p:nvPr/>
        </p:nvSpPr>
        <p:spPr>
          <a:xfrm>
            <a:off x="402336" y="2267712"/>
            <a:ext cx="4315968" cy="182880"/>
          </a:xfrm>
          <a:prstGeom prst="rect">
            <a:avLst/>
          </a:prstGeom>
          <a:noFill/>
          <a:ln/>
        </p:spPr>
        <p:txBody>
          <a:bodyPr wrap="square" lIns="0" tIns="0" rIns="0" bIns="0" rtlCol="0" anchor="t"/>
          <a:lstStyle/>
          <a:p>
            <a:pPr indent="0" marL="0">
              <a:buNone/>
            </a:pPr>
            <a:endParaRPr lang="en-US" sz="850" dirty="0"/>
          </a:p>
        </p:txBody>
      </p:sp>
      <p:sp>
        <p:nvSpPr>
          <p:cNvPr id="12" name="Text 10"/>
          <p:cNvSpPr/>
          <p:nvPr/>
        </p:nvSpPr>
        <p:spPr>
          <a:xfrm>
            <a:off x="402336" y="2459736"/>
            <a:ext cx="4315968" cy="1828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number_1 = st.number_input</a:t>
            </a:r>
            <a:pPr indent="0" marL="0">
              <a:buNone/>
            </a:pPr>
            <a:r>
              <a:rPr lang="en-US" sz="850" dirty="0">
                <a:solidFill>
                  <a:srgbClr val="FFFFFF"/>
                </a:solidFill>
                <a:latin typeface="Consolas" pitchFamily="34" charset="0"/>
                <a:ea typeface="Consolas" pitchFamily="34" charset="-122"/>
                <a:cs typeface="Consolas" pitchFamily="34" charset="-120"/>
              </a:rPr>
              <a:t>("Number 1", value=0.0)</a:t>
            </a:r>
            <a:endParaRPr lang="en-US" sz="850" dirty="0"/>
          </a:p>
        </p:txBody>
      </p:sp>
      <p:sp>
        <p:nvSpPr>
          <p:cNvPr id="13" name="Text 11"/>
          <p:cNvSpPr/>
          <p:nvPr/>
        </p:nvSpPr>
        <p:spPr>
          <a:xfrm>
            <a:off x="402336" y="2651760"/>
            <a:ext cx="4315968" cy="1828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number_2 = st.number_input</a:t>
            </a:r>
            <a:pPr indent="0" marL="0">
              <a:buNone/>
            </a:pPr>
            <a:r>
              <a:rPr lang="en-US" sz="850" dirty="0">
                <a:solidFill>
                  <a:srgbClr val="FFFFFF"/>
                </a:solidFill>
                <a:latin typeface="Consolas" pitchFamily="34" charset="0"/>
                <a:ea typeface="Consolas" pitchFamily="34" charset="-122"/>
                <a:cs typeface="Consolas" pitchFamily="34" charset="-120"/>
              </a:rPr>
              <a:t>("Number 2", value=0.0)</a:t>
            </a:r>
            <a:endParaRPr lang="en-US" sz="850" dirty="0"/>
          </a:p>
        </p:txBody>
      </p:sp>
      <p:sp>
        <p:nvSpPr>
          <p:cNvPr id="14" name="Text 12"/>
          <p:cNvSpPr/>
          <p:nvPr/>
        </p:nvSpPr>
        <p:spPr>
          <a:xfrm>
            <a:off x="402336" y="2843784"/>
            <a:ext cx="4315968" cy="182880"/>
          </a:xfrm>
          <a:prstGeom prst="rect">
            <a:avLst/>
          </a:prstGeom>
          <a:noFill/>
          <a:ln/>
        </p:spPr>
        <p:txBody>
          <a:bodyPr wrap="square" lIns="0" tIns="0" rIns="0" bIns="0" rtlCol="0" anchor="t"/>
          <a:lstStyle/>
          <a:p>
            <a:pPr indent="0" marL="0">
              <a:buNone/>
            </a:pPr>
            <a:endParaRPr lang="en-US" sz="850" dirty="0"/>
          </a:p>
        </p:txBody>
      </p:sp>
      <p:sp>
        <p:nvSpPr>
          <p:cNvPr id="15" name="Text 13"/>
          <p:cNvSpPr/>
          <p:nvPr/>
        </p:nvSpPr>
        <p:spPr>
          <a:xfrm>
            <a:off x="402336" y="3035808"/>
            <a:ext cx="4315968" cy="1828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operation = st.selectbox</a:t>
            </a:r>
            <a:pPr indent="0" marL="0">
              <a:buNone/>
            </a:pP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16" name="Text 14"/>
          <p:cNvSpPr/>
          <p:nvPr/>
        </p:nvSpPr>
        <p:spPr>
          <a:xfrm>
            <a:off x="402336" y="3227832"/>
            <a:ext cx="4315968" cy="182880"/>
          </a:xfrm>
          <a:prstGeom prst="rect">
            <a:avLst/>
          </a:prstGeom>
          <a:noFill/>
          <a:ln/>
        </p:spPr>
        <p:txBody>
          <a:bodyPr wrap="square" lIns="0" tIns="0" rIns="0" bIns="0" rtlCol="0" anchor="t"/>
          <a:lstStyle/>
          <a:p>
            <a:pPr indent="0" marL="0">
              <a:buNone/>
            </a:pPr>
            <a:r>
              <a:rPr lang="en-US" sz="850" dirty="0">
                <a:solidFill>
                  <a:srgbClr val="FFFFFF"/>
                </a:solidFill>
                <a:latin typeface="Consolas" pitchFamily="34" charset="0"/>
                <a:ea typeface="Consolas" pitchFamily="34" charset="-122"/>
                <a:cs typeface="Consolas" pitchFamily="34" charset="-120"/>
              </a:rPr>
              <a:t>    "Choose operation",</a:t>
            </a:r>
            <a:endParaRPr lang="en-US" sz="850" dirty="0"/>
          </a:p>
        </p:txBody>
      </p:sp>
      <p:sp>
        <p:nvSpPr>
          <p:cNvPr id="17" name="Text 15"/>
          <p:cNvSpPr/>
          <p:nvPr/>
        </p:nvSpPr>
        <p:spPr>
          <a:xfrm>
            <a:off x="402336" y="3419856"/>
            <a:ext cx="4315968" cy="182880"/>
          </a:xfrm>
          <a:prstGeom prst="rect">
            <a:avLst/>
          </a:prstGeom>
          <a:noFill/>
          <a:ln/>
        </p:spPr>
        <p:txBody>
          <a:bodyPr wrap="square" lIns="0" tIns="0" rIns="0" bIns="0" rtlCol="0" anchor="t"/>
          <a:lstStyle/>
          <a:p>
            <a:pPr indent="0" marL="0">
              <a:buNone/>
            </a:pPr>
            <a:r>
              <a:rPr lang="en-US" sz="850" dirty="0">
                <a:solidFill>
                  <a:srgbClr val="FFFFFF"/>
                </a:solidFill>
                <a:latin typeface="Consolas" pitchFamily="34" charset="0"/>
                <a:ea typeface="Consolas" pitchFamily="34" charset="-122"/>
                <a:cs typeface="Consolas" pitchFamily="34" charset="-120"/>
              </a:rPr>
              <a:t>    ["Add","Subtract","Multiply","Divide"]</a:t>
            </a:r>
            <a:endParaRPr lang="en-US" sz="850" dirty="0"/>
          </a:p>
        </p:txBody>
      </p:sp>
      <p:sp>
        <p:nvSpPr>
          <p:cNvPr id="18" name="Text 16"/>
          <p:cNvSpPr/>
          <p:nvPr/>
        </p:nvSpPr>
        <p:spPr>
          <a:xfrm>
            <a:off x="402336" y="3611880"/>
            <a:ext cx="4315968" cy="182880"/>
          </a:xfrm>
          <a:prstGeom prst="rect">
            <a:avLst/>
          </a:prstGeom>
          <a:noFill/>
          <a:ln/>
        </p:spPr>
        <p:txBody>
          <a:bodyPr wrap="square" lIns="0" tIns="0" rIns="0" bIns="0" rtlCol="0" anchor="t"/>
          <a:lstStyle/>
          <a:p>
            <a:pPr indent="0" marL="0">
              <a:buNone/>
            </a:pPr>
            <a:r>
              <a:rPr lang="en-US" sz="850" dirty="0">
                <a:solidFill>
                  <a:srgbClr val="FFFFFF"/>
                </a:solidFill>
                <a:latin typeface="Consolas" pitchFamily="34" charset="0"/>
                <a:ea typeface="Consolas" pitchFamily="34" charset="-122"/>
                <a:cs typeface="Consolas" pitchFamily="34" charset="-120"/>
              </a:rPr>
              <a:t>)</a:t>
            </a:r>
            <a:endParaRPr lang="en-US" sz="850" dirty="0"/>
          </a:p>
        </p:txBody>
      </p:sp>
      <p:sp>
        <p:nvSpPr>
          <p:cNvPr id="19" name="Text 17"/>
          <p:cNvSpPr/>
          <p:nvPr/>
        </p:nvSpPr>
        <p:spPr>
          <a:xfrm>
            <a:off x="402336" y="3803904"/>
            <a:ext cx="4315968" cy="182880"/>
          </a:xfrm>
          <a:prstGeom prst="rect">
            <a:avLst/>
          </a:prstGeom>
          <a:noFill/>
          <a:ln/>
        </p:spPr>
        <p:txBody>
          <a:bodyPr wrap="square" lIns="0" tIns="0" rIns="0" bIns="0" rtlCol="0" anchor="t"/>
          <a:lstStyle/>
          <a:p>
            <a:pPr indent="0" marL="0">
              <a:buNone/>
            </a:pPr>
            <a:endParaRPr lang="en-US" sz="850" dirty="0"/>
          </a:p>
        </p:txBody>
      </p:sp>
      <p:sp>
        <p:nvSpPr>
          <p:cNvPr id="20" name="Text 18"/>
          <p:cNvSpPr/>
          <p:nvPr/>
        </p:nvSpPr>
        <p:spPr>
          <a:xfrm>
            <a:off x="402336" y="3995928"/>
            <a:ext cx="4315968" cy="182880"/>
          </a:xfrm>
          <a:prstGeom prst="rect">
            <a:avLst/>
          </a:prstGeom>
          <a:noFill/>
          <a:ln/>
        </p:spPr>
        <p:txBody>
          <a:bodyPr wrap="square" lIns="0" tIns="0" rIns="0" bIns="0" rtlCol="0" anchor="t"/>
          <a:lstStyle/>
          <a:p>
            <a:pPr indent="0" marL="0">
              <a:buNone/>
            </a:pPr>
            <a:r>
              <a:rPr lang="en-US" sz="850" dirty="0">
                <a:solidFill>
                  <a:srgbClr val="C084FC"/>
                </a:solidFill>
                <a:latin typeface="Consolas" pitchFamily="34" charset="0"/>
                <a:ea typeface="Consolas" pitchFamily="34" charset="-122"/>
                <a:cs typeface="Consolas" pitchFamily="34" charset="-120"/>
              </a:rPr>
              <a:t>if </a:t>
            </a:r>
            <a:pPr indent="0" marL="0">
              <a:buNone/>
            </a:pPr>
            <a:r>
              <a:rPr lang="en-US" sz="850" dirty="0">
                <a:solidFill>
                  <a:srgbClr val="7DD3FC"/>
                </a:solidFill>
                <a:latin typeface="Consolas" pitchFamily="34" charset="0"/>
                <a:ea typeface="Consolas" pitchFamily="34" charset="-122"/>
                <a:cs typeface="Consolas" pitchFamily="34" charset="-120"/>
              </a:rPr>
              <a:t>st.button</a:t>
            </a:r>
            <a:pPr indent="0" marL="0">
              <a:buNone/>
            </a:pPr>
            <a:r>
              <a:rPr lang="en-US" sz="850" dirty="0">
                <a:solidFill>
                  <a:srgbClr val="FFFFFF"/>
                </a:solidFill>
                <a:latin typeface="Consolas" pitchFamily="34" charset="0"/>
                <a:ea typeface="Consolas" pitchFamily="34" charset="-122"/>
                <a:cs typeface="Consolas" pitchFamily="34" charset="-120"/>
              </a:rPr>
              <a:t>("Calculate"):</a:t>
            </a:r>
            <a:endParaRPr lang="en-US" sz="850" dirty="0"/>
          </a:p>
        </p:txBody>
      </p:sp>
      <p:sp>
        <p:nvSpPr>
          <p:cNvPr id="21" name="Text 19"/>
          <p:cNvSpPr/>
          <p:nvPr/>
        </p:nvSpPr>
        <p:spPr>
          <a:xfrm>
            <a:off x="402336" y="4187952"/>
            <a:ext cx="4315968" cy="182880"/>
          </a:xfrm>
          <a:prstGeom prst="rect">
            <a:avLst/>
          </a:prstGeom>
          <a:noFill/>
          <a:ln/>
        </p:spPr>
        <p:txBody>
          <a:bodyPr wrap="square" lIns="0" tIns="0" rIns="0" bIns="0" rtlCol="0" anchor="t"/>
          <a:lstStyle/>
          <a:p>
            <a:pPr indent="0" marL="0">
              <a:buNone/>
            </a:pPr>
            <a:r>
              <a:rPr lang="en-US" sz="850" dirty="0">
                <a:solidFill>
                  <a:srgbClr val="C084FC"/>
                </a:solidFill>
                <a:latin typeface="Consolas" pitchFamily="34" charset="0"/>
                <a:ea typeface="Consolas" pitchFamily="34" charset="-122"/>
                <a:cs typeface="Consolas" pitchFamily="34" charset="-120"/>
              </a:rPr>
              <a:t>    if </a:t>
            </a:r>
            <a:pPr indent="0" marL="0">
              <a:buNone/>
            </a:pPr>
            <a:r>
              <a:rPr lang="en-US" sz="850" dirty="0">
                <a:solidFill>
                  <a:srgbClr val="FFFFFF"/>
                </a:solidFill>
                <a:latin typeface="Consolas" pitchFamily="34" charset="0"/>
                <a:ea typeface="Consolas" pitchFamily="34" charset="-122"/>
                <a:cs typeface="Consolas" pitchFamily="34" charset="-120"/>
              </a:rPr>
              <a:t>operation == "Add":</a:t>
            </a:r>
            <a:endParaRPr lang="en-US" sz="850" dirty="0"/>
          </a:p>
        </p:txBody>
      </p:sp>
      <p:sp>
        <p:nvSpPr>
          <p:cNvPr id="22" name="Text 20"/>
          <p:cNvSpPr/>
          <p:nvPr/>
        </p:nvSpPr>
        <p:spPr>
          <a:xfrm>
            <a:off x="402336" y="4379976"/>
            <a:ext cx="4315968" cy="182880"/>
          </a:xfrm>
          <a:prstGeom prst="rect">
            <a:avLst/>
          </a:prstGeom>
          <a:noFill/>
          <a:ln/>
        </p:spPr>
        <p:txBody>
          <a:bodyPr wrap="square" lIns="0" tIns="0" rIns="0" bIns="0" rtlCol="0" anchor="t"/>
          <a:lstStyle/>
          <a:p>
            <a:pPr indent="0" marL="0">
              <a:buNone/>
            </a:pPr>
            <a:r>
              <a:rPr lang="en-US" sz="850" dirty="0">
                <a:solidFill>
                  <a:srgbClr val="FFFFFF"/>
                </a:solidFill>
                <a:latin typeface="Consolas" pitchFamily="34" charset="0"/>
                <a:ea typeface="Consolas" pitchFamily="34" charset="-122"/>
                <a:cs typeface="Consolas" pitchFamily="34" charset="-120"/>
              </a:rPr>
              <a:t>        result = number_1 + number_2</a:t>
            </a:r>
            <a:endParaRPr lang="en-US" sz="850" dirty="0"/>
          </a:p>
        </p:txBody>
      </p:sp>
      <p:sp>
        <p:nvSpPr>
          <p:cNvPr id="23" name="Text 21"/>
          <p:cNvSpPr/>
          <p:nvPr/>
        </p:nvSpPr>
        <p:spPr>
          <a:xfrm>
            <a:off x="402336" y="4572000"/>
            <a:ext cx="4315968" cy="182880"/>
          </a:xfrm>
          <a:prstGeom prst="rect">
            <a:avLst/>
          </a:prstGeom>
          <a:noFill/>
          <a:ln/>
        </p:spPr>
        <p:txBody>
          <a:bodyPr wrap="square" lIns="0" tIns="0" rIns="0" bIns="0" rtlCol="0" anchor="t"/>
          <a:lstStyle/>
          <a:p>
            <a:pPr indent="0" marL="0">
              <a:buNone/>
            </a:pPr>
            <a:r>
              <a:rPr lang="en-US" sz="850" dirty="0">
                <a:solidFill>
                  <a:srgbClr val="7DD3FC"/>
                </a:solidFill>
                <a:latin typeface="Consolas" pitchFamily="34" charset="0"/>
                <a:ea typeface="Consolas" pitchFamily="34" charset="-122"/>
                <a:cs typeface="Consolas" pitchFamily="34" charset="-120"/>
              </a:rPr>
              <a:t>        st.success</a:t>
            </a:r>
            <a:pPr indent="0" marL="0">
              <a:buNone/>
            </a:pPr>
            <a:r>
              <a:rPr lang="en-US" sz="850" dirty="0">
                <a:solidFill>
                  <a:srgbClr val="FFFFFF"/>
                </a:solidFill>
                <a:latin typeface="Consolas" pitchFamily="34" charset="0"/>
                <a:ea typeface="Consolas" pitchFamily="34" charset="-122"/>
                <a:cs typeface="Consolas" pitchFamily="34" charset="-120"/>
              </a:rPr>
              <a:t>(f"Result = {result}")</a:t>
            </a:r>
            <a:endParaRPr lang="en-US" sz="850" dirty="0"/>
          </a:p>
        </p:txBody>
      </p:sp>
      <p:sp>
        <p:nvSpPr>
          <p:cNvPr id="24" name="Shape 22"/>
          <p:cNvSpPr/>
          <p:nvPr/>
        </p:nvSpPr>
        <p:spPr>
          <a:xfrm>
            <a:off x="5047488" y="1188720"/>
            <a:ext cx="3822192" cy="65836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5" name="Shape 23"/>
          <p:cNvSpPr/>
          <p:nvPr/>
        </p:nvSpPr>
        <p:spPr>
          <a:xfrm>
            <a:off x="5047488" y="1188720"/>
            <a:ext cx="64008" cy="658368"/>
          </a:xfrm>
          <a:prstGeom prst="rect">
            <a:avLst/>
          </a:prstGeom>
          <a:solidFill>
            <a:srgbClr val="0D9488"/>
          </a:solidFill>
          <a:ln w="12700">
            <a:solidFill>
              <a:srgbClr val="0D9488"/>
            </a:solidFill>
            <a:prstDash val="solid"/>
          </a:ln>
        </p:spPr>
      </p:sp>
      <p:sp>
        <p:nvSpPr>
          <p:cNvPr id="26" name="Text 24"/>
          <p:cNvSpPr/>
          <p:nvPr/>
        </p:nvSpPr>
        <p:spPr>
          <a:xfrm>
            <a:off x="5175504" y="1243584"/>
            <a:ext cx="3566160" cy="237744"/>
          </a:xfrm>
          <a:prstGeom prst="rect">
            <a:avLst/>
          </a:prstGeom>
          <a:noFill/>
          <a:ln/>
        </p:spPr>
        <p:txBody>
          <a:bodyPr wrap="square" lIns="0" tIns="0" rIns="0" bIns="0" rtlCol="0" anchor="ctr"/>
          <a:lstStyle/>
          <a:p>
            <a:pPr indent="0" marL="0">
              <a:buNone/>
            </a:pPr>
            <a:r>
              <a:rPr lang="en-US" sz="1000" b="1" dirty="0">
                <a:solidFill>
                  <a:srgbClr val="0D9488"/>
                </a:solidFill>
                <a:latin typeface="Consolas" pitchFamily="34" charset="0"/>
                <a:ea typeface="Consolas" pitchFamily="34" charset="-122"/>
                <a:cs typeface="Consolas" pitchFamily="34" charset="-120"/>
              </a:rPr>
              <a:t>st.title()</a:t>
            </a:r>
            <a:endParaRPr lang="en-US" sz="1000" dirty="0"/>
          </a:p>
        </p:txBody>
      </p:sp>
      <p:sp>
        <p:nvSpPr>
          <p:cNvPr id="27" name="Text 25"/>
          <p:cNvSpPr/>
          <p:nvPr/>
        </p:nvSpPr>
        <p:spPr>
          <a:xfrm>
            <a:off x="5175504" y="1517904"/>
            <a:ext cx="3566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Adds a large heading. st.write() adds plain text.</a:t>
            </a:r>
            <a:endParaRPr lang="en-US" sz="900" dirty="0"/>
          </a:p>
        </p:txBody>
      </p:sp>
      <p:sp>
        <p:nvSpPr>
          <p:cNvPr id="28" name="Shape 26"/>
          <p:cNvSpPr/>
          <p:nvPr/>
        </p:nvSpPr>
        <p:spPr>
          <a:xfrm>
            <a:off x="5047488" y="1938528"/>
            <a:ext cx="3822192" cy="65836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9" name="Shape 27"/>
          <p:cNvSpPr/>
          <p:nvPr/>
        </p:nvSpPr>
        <p:spPr>
          <a:xfrm>
            <a:off x="5047488" y="1938528"/>
            <a:ext cx="64008" cy="658368"/>
          </a:xfrm>
          <a:prstGeom prst="rect">
            <a:avLst/>
          </a:prstGeom>
          <a:solidFill>
            <a:srgbClr val="F97316"/>
          </a:solidFill>
          <a:ln w="12700">
            <a:solidFill>
              <a:srgbClr val="F97316"/>
            </a:solidFill>
            <a:prstDash val="solid"/>
          </a:ln>
        </p:spPr>
      </p:sp>
      <p:sp>
        <p:nvSpPr>
          <p:cNvPr id="30" name="Text 28"/>
          <p:cNvSpPr/>
          <p:nvPr/>
        </p:nvSpPr>
        <p:spPr>
          <a:xfrm>
            <a:off x="5175504" y="1993392"/>
            <a:ext cx="3566160" cy="237744"/>
          </a:xfrm>
          <a:prstGeom prst="rect">
            <a:avLst/>
          </a:prstGeom>
          <a:noFill/>
          <a:ln/>
        </p:spPr>
        <p:txBody>
          <a:bodyPr wrap="square" lIns="0" tIns="0" rIns="0" bIns="0" rtlCol="0" anchor="ctr"/>
          <a:lstStyle/>
          <a:p>
            <a:pPr indent="0" marL="0">
              <a:buNone/>
            </a:pPr>
            <a:r>
              <a:rPr lang="en-US" sz="1000" b="1" dirty="0">
                <a:solidFill>
                  <a:srgbClr val="F97316"/>
                </a:solidFill>
                <a:latin typeface="Consolas" pitchFamily="34" charset="0"/>
                <a:ea typeface="Consolas" pitchFamily="34" charset="-122"/>
                <a:cs typeface="Consolas" pitchFamily="34" charset="-120"/>
              </a:rPr>
              <a:t>st.number_input()</a:t>
            </a:r>
            <a:endParaRPr lang="en-US" sz="1000" dirty="0"/>
          </a:p>
        </p:txBody>
      </p:sp>
      <p:sp>
        <p:nvSpPr>
          <p:cNvPr id="31" name="Text 29"/>
          <p:cNvSpPr/>
          <p:nvPr/>
        </p:nvSpPr>
        <p:spPr>
          <a:xfrm>
            <a:off x="5175504" y="2267712"/>
            <a:ext cx="3566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Creates a numeric input box. Returns the value immediately as a Python variable.</a:t>
            </a:r>
            <a:endParaRPr lang="en-US" sz="900" dirty="0"/>
          </a:p>
        </p:txBody>
      </p:sp>
      <p:sp>
        <p:nvSpPr>
          <p:cNvPr id="32" name="Shape 30"/>
          <p:cNvSpPr/>
          <p:nvPr/>
        </p:nvSpPr>
        <p:spPr>
          <a:xfrm>
            <a:off x="5047488" y="2688336"/>
            <a:ext cx="3822192" cy="65836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33" name="Shape 31"/>
          <p:cNvSpPr/>
          <p:nvPr/>
        </p:nvSpPr>
        <p:spPr>
          <a:xfrm>
            <a:off x="5047488" y="2688336"/>
            <a:ext cx="64008" cy="658368"/>
          </a:xfrm>
          <a:prstGeom prst="rect">
            <a:avLst/>
          </a:prstGeom>
          <a:solidFill>
            <a:srgbClr val="7C3AED"/>
          </a:solidFill>
          <a:ln w="12700">
            <a:solidFill>
              <a:srgbClr val="7C3AED"/>
            </a:solidFill>
            <a:prstDash val="solid"/>
          </a:ln>
        </p:spPr>
      </p:sp>
      <p:sp>
        <p:nvSpPr>
          <p:cNvPr id="34" name="Text 32"/>
          <p:cNvSpPr/>
          <p:nvPr/>
        </p:nvSpPr>
        <p:spPr>
          <a:xfrm>
            <a:off x="5175504" y="2743200"/>
            <a:ext cx="3566160" cy="237744"/>
          </a:xfrm>
          <a:prstGeom prst="rect">
            <a:avLst/>
          </a:prstGeom>
          <a:noFill/>
          <a:ln/>
        </p:spPr>
        <p:txBody>
          <a:bodyPr wrap="square" lIns="0" tIns="0" rIns="0" bIns="0" rtlCol="0" anchor="ctr"/>
          <a:lstStyle/>
          <a:p>
            <a:pPr indent="0" marL="0">
              <a:buNone/>
            </a:pPr>
            <a:r>
              <a:rPr lang="en-US" sz="1000" b="1" dirty="0">
                <a:solidFill>
                  <a:srgbClr val="7C3AED"/>
                </a:solidFill>
                <a:latin typeface="Consolas" pitchFamily="34" charset="0"/>
                <a:ea typeface="Consolas" pitchFamily="34" charset="-122"/>
                <a:cs typeface="Consolas" pitchFamily="34" charset="-120"/>
              </a:rPr>
              <a:t>st.selectbox()</a:t>
            </a:r>
            <a:endParaRPr lang="en-US" sz="1000" dirty="0"/>
          </a:p>
        </p:txBody>
      </p:sp>
      <p:sp>
        <p:nvSpPr>
          <p:cNvPr id="35" name="Text 33"/>
          <p:cNvSpPr/>
          <p:nvPr/>
        </p:nvSpPr>
        <p:spPr>
          <a:xfrm>
            <a:off x="5175504" y="3017520"/>
            <a:ext cx="3566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Creates a dropdown. The selected option is returned as a string.</a:t>
            </a:r>
            <a:endParaRPr lang="en-US" sz="900" dirty="0"/>
          </a:p>
        </p:txBody>
      </p:sp>
      <p:sp>
        <p:nvSpPr>
          <p:cNvPr id="36" name="Shape 34"/>
          <p:cNvSpPr/>
          <p:nvPr/>
        </p:nvSpPr>
        <p:spPr>
          <a:xfrm>
            <a:off x="5047488" y="3438144"/>
            <a:ext cx="3822192" cy="65836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37" name="Shape 35"/>
          <p:cNvSpPr/>
          <p:nvPr/>
        </p:nvSpPr>
        <p:spPr>
          <a:xfrm>
            <a:off x="5047488" y="3438144"/>
            <a:ext cx="64008" cy="658368"/>
          </a:xfrm>
          <a:prstGeom prst="rect">
            <a:avLst/>
          </a:prstGeom>
          <a:solidFill>
            <a:srgbClr val="16A34A"/>
          </a:solidFill>
          <a:ln w="12700">
            <a:solidFill>
              <a:srgbClr val="16A34A"/>
            </a:solidFill>
            <a:prstDash val="solid"/>
          </a:ln>
        </p:spPr>
      </p:sp>
      <p:sp>
        <p:nvSpPr>
          <p:cNvPr id="38" name="Text 36"/>
          <p:cNvSpPr/>
          <p:nvPr/>
        </p:nvSpPr>
        <p:spPr>
          <a:xfrm>
            <a:off x="5175504" y="3493008"/>
            <a:ext cx="3566160" cy="237744"/>
          </a:xfrm>
          <a:prstGeom prst="rect">
            <a:avLst/>
          </a:prstGeom>
          <a:noFill/>
          <a:ln/>
        </p:spPr>
        <p:txBody>
          <a:bodyPr wrap="square" lIns="0" tIns="0" rIns="0" bIns="0" rtlCol="0" anchor="ctr"/>
          <a:lstStyle/>
          <a:p>
            <a:pPr indent="0" marL="0">
              <a:buNone/>
            </a:pPr>
            <a:r>
              <a:rPr lang="en-US" sz="1000" b="1" dirty="0">
                <a:solidFill>
                  <a:srgbClr val="16A34A"/>
                </a:solidFill>
                <a:latin typeface="Consolas" pitchFamily="34" charset="0"/>
                <a:ea typeface="Consolas" pitchFamily="34" charset="-122"/>
                <a:cs typeface="Consolas" pitchFamily="34" charset="-120"/>
              </a:rPr>
              <a:t>st.button()</a:t>
            </a:r>
            <a:endParaRPr lang="en-US" sz="1000" dirty="0"/>
          </a:p>
        </p:txBody>
      </p:sp>
      <p:sp>
        <p:nvSpPr>
          <p:cNvPr id="39" name="Text 37"/>
          <p:cNvSpPr/>
          <p:nvPr/>
        </p:nvSpPr>
        <p:spPr>
          <a:xfrm>
            <a:off x="5175504" y="3767328"/>
            <a:ext cx="3566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Creates a button. The if block ONLY runs when the user clicks it.</a:t>
            </a:r>
            <a:endParaRPr lang="en-US" sz="900" dirty="0"/>
          </a:p>
        </p:txBody>
      </p:sp>
      <p:sp>
        <p:nvSpPr>
          <p:cNvPr id="40" name="Shape 38"/>
          <p:cNvSpPr/>
          <p:nvPr/>
        </p:nvSpPr>
        <p:spPr>
          <a:xfrm>
            <a:off x="5047488" y="4187952"/>
            <a:ext cx="3822192" cy="658368"/>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41" name="Shape 39"/>
          <p:cNvSpPr/>
          <p:nvPr/>
        </p:nvSpPr>
        <p:spPr>
          <a:xfrm>
            <a:off x="5047488" y="4187952"/>
            <a:ext cx="64008" cy="658368"/>
          </a:xfrm>
          <a:prstGeom prst="rect">
            <a:avLst/>
          </a:prstGeom>
          <a:solidFill>
            <a:srgbClr val="1B2A4A"/>
          </a:solidFill>
          <a:ln w="12700">
            <a:solidFill>
              <a:srgbClr val="1B2A4A"/>
            </a:solidFill>
            <a:prstDash val="solid"/>
          </a:ln>
        </p:spPr>
      </p:sp>
      <p:sp>
        <p:nvSpPr>
          <p:cNvPr id="42" name="Text 40"/>
          <p:cNvSpPr/>
          <p:nvPr/>
        </p:nvSpPr>
        <p:spPr>
          <a:xfrm>
            <a:off x="5175504" y="4242816"/>
            <a:ext cx="3566160" cy="237744"/>
          </a:xfrm>
          <a:prstGeom prst="rect">
            <a:avLst/>
          </a:prstGeom>
          <a:noFill/>
          <a:ln/>
        </p:spPr>
        <p:txBody>
          <a:bodyPr wrap="square" lIns="0" tIns="0" rIns="0" bIns="0" rtlCol="0" anchor="ctr"/>
          <a:lstStyle/>
          <a:p>
            <a:pPr indent="0" marL="0">
              <a:buNone/>
            </a:pPr>
            <a:r>
              <a:rPr lang="en-US" sz="1000" b="1" dirty="0">
                <a:solidFill>
                  <a:srgbClr val="1B2A4A"/>
                </a:solidFill>
                <a:latin typeface="Consolas" pitchFamily="34" charset="0"/>
                <a:ea typeface="Consolas" pitchFamily="34" charset="-122"/>
                <a:cs typeface="Consolas" pitchFamily="34" charset="-120"/>
              </a:rPr>
              <a:t>st.success()</a:t>
            </a:r>
            <a:endParaRPr lang="en-US" sz="1000" dirty="0"/>
          </a:p>
        </p:txBody>
      </p:sp>
      <p:sp>
        <p:nvSpPr>
          <p:cNvPr id="43" name="Text 41"/>
          <p:cNvSpPr/>
          <p:nvPr/>
        </p:nvSpPr>
        <p:spPr>
          <a:xfrm>
            <a:off x="5175504" y="4517136"/>
            <a:ext cx="3566160" cy="274320"/>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Shows a green message box. Also: st.error() red, st.warning() yellow, st.info() blue.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app_credit_risk.py — The Real Credit Risk App</a:t>
            </a:r>
            <a:endParaRPr lang="en-US" sz="2200" dirty="0"/>
          </a:p>
        </p:txBody>
      </p:sp>
      <p:sp>
        <p:nvSpPr>
          <p:cNvPr id="4" name="Text 2"/>
          <p:cNvSpPr/>
          <p:nvPr/>
        </p:nvSpPr>
        <p:spPr>
          <a:xfrm>
            <a:off x="365760" y="749808"/>
            <a:ext cx="8412480" cy="347472"/>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Same structure as the calculator. Three things are added: load the pipeline, engineer features, call predict_proba.</a:t>
            </a:r>
            <a:endParaRPr lang="en-US" sz="1150" dirty="0"/>
          </a:p>
        </p:txBody>
      </p:sp>
      <p:sp>
        <p:nvSpPr>
          <p:cNvPr id="5" name="Shape 3"/>
          <p:cNvSpPr/>
          <p:nvPr/>
        </p:nvSpPr>
        <p:spPr>
          <a:xfrm>
            <a:off x="274320" y="1188720"/>
            <a:ext cx="4572000" cy="3703320"/>
          </a:xfrm>
          <a:prstGeom prst="rect">
            <a:avLst/>
          </a:prstGeom>
          <a:solidFill>
            <a:srgbClr val="1E293B"/>
          </a:solidFill>
          <a:ln w="12700">
            <a:solidFill>
              <a:srgbClr val="1E293B"/>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274320" y="1188720"/>
            <a:ext cx="4572000" cy="274320"/>
          </a:xfrm>
          <a:prstGeom prst="rect">
            <a:avLst/>
          </a:prstGeom>
          <a:noFill/>
          <a:ln/>
        </p:spPr>
        <p:txBody>
          <a:bodyPr wrap="square" lIns="0" tIns="0" rIns="0" bIns="0" rtlCol="0" anchor="ctr"/>
          <a:lstStyle/>
          <a:p>
            <a:pPr algn="ctr" indent="0" marL="0">
              <a:buNone/>
            </a:pPr>
            <a:r>
              <a:rPr lang="en-US" sz="850" b="1" dirty="0">
                <a:solidFill>
                  <a:srgbClr val="0D9488"/>
                </a:solidFill>
                <a:latin typeface="Consolas" pitchFamily="34" charset="0"/>
                <a:ea typeface="Consolas" pitchFamily="34" charset="-122"/>
                <a:cs typeface="Consolas" pitchFamily="34" charset="-120"/>
              </a:rPr>
              <a:t>app_credit_risk.py  (key parts)</a:t>
            </a:r>
            <a:endParaRPr lang="en-US" sz="850" dirty="0"/>
          </a:p>
        </p:txBody>
      </p:sp>
      <p:sp>
        <p:nvSpPr>
          <p:cNvPr id="7" name="Text 5"/>
          <p:cNvSpPr/>
          <p:nvPr/>
        </p:nvSpPr>
        <p:spPr>
          <a:xfrm>
            <a:off x="402336" y="1499616"/>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import </a:t>
            </a:r>
            <a:pPr indent="0" marL="0">
              <a:buNone/>
            </a:pPr>
            <a:r>
              <a:rPr lang="en-US" sz="820" dirty="0">
                <a:solidFill>
                  <a:srgbClr val="7DD3FC"/>
                </a:solidFill>
                <a:latin typeface="Consolas" pitchFamily="34" charset="0"/>
                <a:ea typeface="Consolas" pitchFamily="34" charset="-122"/>
                <a:cs typeface="Consolas" pitchFamily="34" charset="-120"/>
              </a:rPr>
              <a:t>joblib</a:t>
            </a:r>
            <a:endParaRPr lang="en-US" sz="820" dirty="0"/>
          </a:p>
        </p:txBody>
      </p:sp>
      <p:sp>
        <p:nvSpPr>
          <p:cNvPr id="8" name="Text 6"/>
          <p:cNvSpPr/>
          <p:nvPr/>
        </p:nvSpPr>
        <p:spPr>
          <a:xfrm>
            <a:off x="402336" y="1669694"/>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import </a:t>
            </a:r>
            <a:pPr indent="0" marL="0">
              <a:buNone/>
            </a:pPr>
            <a:r>
              <a:rPr lang="en-US" sz="820" dirty="0">
                <a:solidFill>
                  <a:srgbClr val="7DD3FC"/>
                </a:solidFill>
                <a:latin typeface="Consolas" pitchFamily="34" charset="0"/>
                <a:ea typeface="Consolas" pitchFamily="34" charset="-122"/>
                <a:cs typeface="Consolas" pitchFamily="34" charset="-120"/>
              </a:rPr>
              <a:t>pandas </a:t>
            </a:r>
            <a:pPr indent="0" marL="0">
              <a:buNone/>
            </a:pPr>
            <a:r>
              <a:rPr lang="en-US" sz="820" dirty="0">
                <a:solidFill>
                  <a:srgbClr val="C084FC"/>
                </a:solidFill>
                <a:latin typeface="Consolas" pitchFamily="34" charset="0"/>
                <a:ea typeface="Consolas" pitchFamily="34" charset="-122"/>
                <a:cs typeface="Consolas" pitchFamily="34" charset="-120"/>
              </a:rPr>
              <a:t>as </a:t>
            </a:r>
            <a:pPr indent="0" marL="0">
              <a:buNone/>
            </a:pPr>
            <a:r>
              <a:rPr lang="en-US" sz="820" dirty="0">
                <a:solidFill>
                  <a:srgbClr val="7DD3FC"/>
                </a:solidFill>
                <a:latin typeface="Consolas" pitchFamily="34" charset="0"/>
                <a:ea typeface="Consolas" pitchFamily="34" charset="-122"/>
                <a:cs typeface="Consolas" pitchFamily="34" charset="-120"/>
              </a:rPr>
              <a:t>pd</a:t>
            </a:r>
            <a:endParaRPr lang="en-US" sz="820" dirty="0"/>
          </a:p>
        </p:txBody>
      </p:sp>
      <p:sp>
        <p:nvSpPr>
          <p:cNvPr id="9" name="Text 7"/>
          <p:cNvSpPr/>
          <p:nvPr/>
        </p:nvSpPr>
        <p:spPr>
          <a:xfrm>
            <a:off x="402336" y="1839773"/>
            <a:ext cx="4315968" cy="164592"/>
          </a:xfrm>
          <a:prstGeom prst="rect">
            <a:avLst/>
          </a:prstGeom>
          <a:noFill/>
          <a:ln/>
        </p:spPr>
        <p:txBody>
          <a:bodyPr wrap="square" lIns="0" tIns="0" rIns="0" bIns="0" rtlCol="0" anchor="t"/>
          <a:lstStyle/>
          <a:p>
            <a:pPr indent="0" marL="0">
              <a:buNone/>
            </a:pPr>
            <a:endParaRPr lang="en-US" sz="820" dirty="0"/>
          </a:p>
        </p:txBody>
      </p:sp>
      <p:sp>
        <p:nvSpPr>
          <p:cNvPr id="10" name="Text 8"/>
          <p:cNvSpPr/>
          <p:nvPr/>
        </p:nvSpPr>
        <p:spPr>
          <a:xfrm>
            <a:off x="402336" y="2009851"/>
            <a:ext cx="4315968" cy="164592"/>
          </a:xfrm>
          <a:prstGeom prst="rect">
            <a:avLst/>
          </a:prstGeom>
          <a:noFill/>
          <a:ln/>
        </p:spPr>
        <p:txBody>
          <a:bodyPr wrap="square" lIns="0" tIns="0" rIns="0" bIns="0" rtlCol="0" anchor="t"/>
          <a:lstStyle/>
          <a:p>
            <a:pPr indent="0" marL="0">
              <a:buNone/>
            </a:pPr>
            <a:r>
              <a:rPr lang="en-US" sz="820" dirty="0">
                <a:solidFill>
                  <a:srgbClr val="94A3B8"/>
                </a:solidFill>
                <a:latin typeface="Consolas" pitchFamily="34" charset="0"/>
                <a:ea typeface="Consolas" pitchFamily="34" charset="-122"/>
                <a:cs typeface="Consolas" pitchFamily="34" charset="-120"/>
              </a:rPr>
              <a:t># Load pipeline ONCE when app starts</a:t>
            </a:r>
            <a:endParaRPr lang="en-US" sz="820" dirty="0"/>
          </a:p>
        </p:txBody>
      </p:sp>
      <p:sp>
        <p:nvSpPr>
          <p:cNvPr id="11" name="Text 9"/>
          <p:cNvSpPr/>
          <p:nvPr/>
        </p:nvSpPr>
        <p:spPr>
          <a:xfrm>
            <a:off x="402336" y="2179930"/>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@st.cache_resource</a:t>
            </a:r>
            <a:endParaRPr lang="en-US" sz="820" dirty="0"/>
          </a:p>
        </p:txBody>
      </p:sp>
      <p:sp>
        <p:nvSpPr>
          <p:cNvPr id="12" name="Text 10"/>
          <p:cNvSpPr/>
          <p:nvPr/>
        </p:nvSpPr>
        <p:spPr>
          <a:xfrm>
            <a:off x="402336" y="2350008"/>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def </a:t>
            </a:r>
            <a:pPr indent="0" marL="0">
              <a:buNone/>
            </a:pPr>
            <a:r>
              <a:rPr lang="en-US" sz="820" dirty="0">
                <a:solidFill>
                  <a:srgbClr val="FCD34D"/>
                </a:solidFill>
                <a:latin typeface="Consolas" pitchFamily="34" charset="0"/>
                <a:ea typeface="Consolas" pitchFamily="34" charset="-122"/>
                <a:cs typeface="Consolas" pitchFamily="34" charset="-120"/>
              </a:rPr>
              <a:t>load_pipeline</a:t>
            </a:r>
            <a:pPr indent="0" marL="0">
              <a:buNone/>
            </a:pPr>
            <a:r>
              <a:rPr lang="en-US" sz="820" dirty="0">
                <a:solidFill>
                  <a:srgbClr val="FFFFFF"/>
                </a:solidFill>
                <a:latin typeface="Consolas" pitchFamily="34" charset="0"/>
                <a:ea typeface="Consolas" pitchFamily="34" charset="-122"/>
                <a:cs typeface="Consolas" pitchFamily="34" charset="-120"/>
              </a:rPr>
              <a:t>():</a:t>
            </a:r>
            <a:endParaRPr lang="en-US" sz="820" dirty="0"/>
          </a:p>
        </p:txBody>
      </p:sp>
      <p:sp>
        <p:nvSpPr>
          <p:cNvPr id="13" name="Text 11"/>
          <p:cNvSpPr/>
          <p:nvPr/>
        </p:nvSpPr>
        <p:spPr>
          <a:xfrm>
            <a:off x="402336" y="2520086"/>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    return </a:t>
            </a:r>
            <a:pPr indent="0" marL="0">
              <a:buNone/>
            </a:pPr>
            <a:r>
              <a:rPr lang="en-US" sz="820" dirty="0">
                <a:solidFill>
                  <a:srgbClr val="7DD3FC"/>
                </a:solidFill>
                <a:latin typeface="Consolas" pitchFamily="34" charset="0"/>
                <a:ea typeface="Consolas" pitchFamily="34" charset="-122"/>
                <a:cs typeface="Consolas" pitchFamily="34" charset="-120"/>
              </a:rPr>
              <a:t>joblib.load</a:t>
            </a:r>
            <a:pPr indent="0" marL="0">
              <a:buNone/>
            </a:pPr>
            <a:r>
              <a:rPr lang="en-US" sz="820" dirty="0">
                <a:solidFill>
                  <a:srgbClr val="FFFFFF"/>
                </a:solidFill>
                <a:latin typeface="Consolas" pitchFamily="34" charset="0"/>
                <a:ea typeface="Consolas" pitchFamily="34" charset="-122"/>
                <a:cs typeface="Consolas" pitchFamily="34" charset="-120"/>
              </a:rPr>
              <a:t>("best_pipeline_v2.pkl")</a:t>
            </a:r>
            <a:endParaRPr lang="en-US" sz="820" dirty="0"/>
          </a:p>
        </p:txBody>
      </p:sp>
      <p:sp>
        <p:nvSpPr>
          <p:cNvPr id="14" name="Text 12"/>
          <p:cNvSpPr/>
          <p:nvPr/>
        </p:nvSpPr>
        <p:spPr>
          <a:xfrm>
            <a:off x="402336" y="2690165"/>
            <a:ext cx="4315968" cy="164592"/>
          </a:xfrm>
          <a:prstGeom prst="rect">
            <a:avLst/>
          </a:prstGeom>
          <a:noFill/>
          <a:ln/>
        </p:spPr>
        <p:txBody>
          <a:bodyPr wrap="square" lIns="0" tIns="0" rIns="0" bIns="0" rtlCol="0" anchor="t"/>
          <a:lstStyle/>
          <a:p>
            <a:pPr indent="0" marL="0">
              <a:buNone/>
            </a:pPr>
            <a:r>
              <a:rPr lang="en-US" sz="820" dirty="0">
                <a:solidFill>
                  <a:srgbClr val="FFFFFF"/>
                </a:solidFill>
                <a:latin typeface="Consolas" pitchFamily="34" charset="0"/>
                <a:ea typeface="Consolas" pitchFamily="34" charset="-122"/>
                <a:cs typeface="Consolas" pitchFamily="34" charset="-120"/>
              </a:rPr>
              <a:t>pipeline = load_pipeline()</a:t>
            </a:r>
            <a:endParaRPr lang="en-US" sz="820" dirty="0"/>
          </a:p>
        </p:txBody>
      </p:sp>
      <p:sp>
        <p:nvSpPr>
          <p:cNvPr id="15" name="Text 13"/>
          <p:cNvSpPr/>
          <p:nvPr/>
        </p:nvSpPr>
        <p:spPr>
          <a:xfrm>
            <a:off x="402336" y="2860243"/>
            <a:ext cx="4315968" cy="164592"/>
          </a:xfrm>
          <a:prstGeom prst="rect">
            <a:avLst/>
          </a:prstGeom>
          <a:noFill/>
          <a:ln/>
        </p:spPr>
        <p:txBody>
          <a:bodyPr wrap="square" lIns="0" tIns="0" rIns="0" bIns="0" rtlCol="0" anchor="t"/>
          <a:lstStyle/>
          <a:p>
            <a:pPr indent="0" marL="0">
              <a:buNone/>
            </a:pPr>
            <a:endParaRPr lang="en-US" sz="820" dirty="0"/>
          </a:p>
        </p:txBody>
      </p:sp>
      <p:sp>
        <p:nvSpPr>
          <p:cNvPr id="16" name="Text 14"/>
          <p:cNvSpPr/>
          <p:nvPr/>
        </p:nvSpPr>
        <p:spPr>
          <a:xfrm>
            <a:off x="402336" y="3030322"/>
            <a:ext cx="4315968" cy="164592"/>
          </a:xfrm>
          <a:prstGeom prst="rect">
            <a:avLst/>
          </a:prstGeom>
          <a:noFill/>
          <a:ln/>
        </p:spPr>
        <p:txBody>
          <a:bodyPr wrap="square" lIns="0" tIns="0" rIns="0" bIns="0" rtlCol="0" anchor="t"/>
          <a:lstStyle/>
          <a:p>
            <a:pPr indent="0" marL="0">
              <a:buNone/>
            </a:pPr>
            <a:r>
              <a:rPr lang="en-US" sz="820" dirty="0">
                <a:solidFill>
                  <a:srgbClr val="94A3B8"/>
                </a:solidFill>
                <a:latin typeface="Consolas" pitchFamily="34" charset="0"/>
                <a:ea typeface="Consolas" pitchFamily="34" charset="-122"/>
                <a:cs typeface="Consolas" pitchFamily="34" charset="-120"/>
              </a:rPr>
              <a:t># Inputs — same as calculator</a:t>
            </a:r>
            <a:endParaRPr lang="en-US" sz="820" dirty="0"/>
          </a:p>
        </p:txBody>
      </p:sp>
      <p:sp>
        <p:nvSpPr>
          <p:cNvPr id="17" name="Text 15"/>
          <p:cNvSpPr/>
          <p:nvPr/>
        </p:nvSpPr>
        <p:spPr>
          <a:xfrm>
            <a:off x="402336" y="3200400"/>
            <a:ext cx="4315968" cy="164592"/>
          </a:xfrm>
          <a:prstGeom prst="rect">
            <a:avLst/>
          </a:prstGeom>
          <a:noFill/>
          <a:ln/>
        </p:spPr>
        <p:txBody>
          <a:bodyPr wrap="square" lIns="0" tIns="0" rIns="0" bIns="0" rtlCol="0" anchor="t"/>
          <a:lstStyle/>
          <a:p>
            <a:pPr indent="0" marL="0">
              <a:buNone/>
            </a:pPr>
            <a:r>
              <a:rPr lang="en-US" sz="820" dirty="0">
                <a:solidFill>
                  <a:srgbClr val="7DD3FC"/>
                </a:solidFill>
                <a:latin typeface="Consolas" pitchFamily="34" charset="0"/>
                <a:ea typeface="Consolas" pitchFamily="34" charset="-122"/>
                <a:cs typeface="Consolas" pitchFamily="34" charset="-120"/>
              </a:rPr>
              <a:t>age     = st.number_input</a:t>
            </a:r>
            <a:pPr indent="0" marL="0">
              <a:buNone/>
            </a:pPr>
            <a:r>
              <a:rPr lang="en-US" sz="820" dirty="0">
                <a:solidFill>
                  <a:srgbClr val="FFFFFF"/>
                </a:solidFill>
                <a:latin typeface="Consolas" pitchFamily="34" charset="0"/>
                <a:ea typeface="Consolas" pitchFamily="34" charset="-122"/>
                <a:cs typeface="Consolas" pitchFamily="34" charset="-120"/>
              </a:rPr>
              <a:t>("Age")</a:t>
            </a:r>
            <a:endParaRPr lang="en-US" sz="820" dirty="0"/>
          </a:p>
        </p:txBody>
      </p:sp>
      <p:sp>
        <p:nvSpPr>
          <p:cNvPr id="18" name="Text 16"/>
          <p:cNvSpPr/>
          <p:nvPr/>
        </p:nvSpPr>
        <p:spPr>
          <a:xfrm>
            <a:off x="402336" y="3370478"/>
            <a:ext cx="4315968" cy="164592"/>
          </a:xfrm>
          <a:prstGeom prst="rect">
            <a:avLst/>
          </a:prstGeom>
          <a:noFill/>
          <a:ln/>
        </p:spPr>
        <p:txBody>
          <a:bodyPr wrap="square" lIns="0" tIns="0" rIns="0" bIns="0" rtlCol="0" anchor="t"/>
          <a:lstStyle/>
          <a:p>
            <a:pPr indent="0" marL="0">
              <a:buNone/>
            </a:pPr>
            <a:r>
              <a:rPr lang="en-US" sz="820" dirty="0">
                <a:solidFill>
                  <a:srgbClr val="7DD3FC"/>
                </a:solidFill>
                <a:latin typeface="Consolas" pitchFamily="34" charset="0"/>
                <a:ea typeface="Consolas" pitchFamily="34" charset="-122"/>
                <a:cs typeface="Consolas" pitchFamily="34" charset="-120"/>
              </a:rPr>
              <a:t>income  = st.number_input</a:t>
            </a:r>
            <a:pPr indent="0" marL="0">
              <a:buNone/>
            </a:pPr>
            <a:r>
              <a:rPr lang="en-US" sz="820" dirty="0">
                <a:solidFill>
                  <a:srgbClr val="FFFFFF"/>
                </a:solidFill>
                <a:latin typeface="Consolas" pitchFamily="34" charset="0"/>
                <a:ea typeface="Consolas" pitchFamily="34" charset="-122"/>
                <a:cs typeface="Consolas" pitchFamily="34" charset="-120"/>
              </a:rPr>
              <a:t>("Monthly Income")</a:t>
            </a:r>
            <a:endParaRPr lang="en-US" sz="820" dirty="0"/>
          </a:p>
        </p:txBody>
      </p:sp>
      <p:sp>
        <p:nvSpPr>
          <p:cNvPr id="19" name="Text 17"/>
          <p:cNvSpPr/>
          <p:nvPr/>
        </p:nvSpPr>
        <p:spPr>
          <a:xfrm>
            <a:off x="402336" y="3540557"/>
            <a:ext cx="4315968" cy="164592"/>
          </a:xfrm>
          <a:prstGeom prst="rect">
            <a:avLst/>
          </a:prstGeom>
          <a:noFill/>
          <a:ln/>
        </p:spPr>
        <p:txBody>
          <a:bodyPr wrap="square" lIns="0" tIns="0" rIns="0" bIns="0" rtlCol="0" anchor="t"/>
          <a:lstStyle/>
          <a:p>
            <a:pPr indent="0" marL="0">
              <a:buNone/>
            </a:pPr>
            <a:r>
              <a:rPr lang="en-US" sz="820" dirty="0">
                <a:solidFill>
                  <a:srgbClr val="94A3B8"/>
                </a:solidFill>
                <a:latin typeface="Consolas" pitchFamily="34" charset="0"/>
                <a:ea typeface="Consolas" pitchFamily="34" charset="-122"/>
                <a:cs typeface="Consolas" pitchFamily="34" charset="-120"/>
              </a:rPr>
              <a:t># ... more inputs ...</a:t>
            </a:r>
            <a:endParaRPr lang="en-US" sz="820" dirty="0"/>
          </a:p>
        </p:txBody>
      </p:sp>
      <p:sp>
        <p:nvSpPr>
          <p:cNvPr id="20" name="Text 18"/>
          <p:cNvSpPr/>
          <p:nvPr/>
        </p:nvSpPr>
        <p:spPr>
          <a:xfrm>
            <a:off x="402336" y="3710635"/>
            <a:ext cx="4315968" cy="164592"/>
          </a:xfrm>
          <a:prstGeom prst="rect">
            <a:avLst/>
          </a:prstGeom>
          <a:noFill/>
          <a:ln/>
        </p:spPr>
        <p:txBody>
          <a:bodyPr wrap="square" lIns="0" tIns="0" rIns="0" bIns="0" rtlCol="0" anchor="t"/>
          <a:lstStyle/>
          <a:p>
            <a:pPr indent="0" marL="0">
              <a:buNone/>
            </a:pPr>
            <a:endParaRPr lang="en-US" sz="820" dirty="0"/>
          </a:p>
        </p:txBody>
      </p:sp>
      <p:sp>
        <p:nvSpPr>
          <p:cNvPr id="21" name="Text 19"/>
          <p:cNvSpPr/>
          <p:nvPr/>
        </p:nvSpPr>
        <p:spPr>
          <a:xfrm>
            <a:off x="402336" y="3880714"/>
            <a:ext cx="4315968" cy="164592"/>
          </a:xfrm>
          <a:prstGeom prst="rect">
            <a:avLst/>
          </a:prstGeom>
          <a:noFill/>
          <a:ln/>
        </p:spPr>
        <p:txBody>
          <a:bodyPr wrap="square" lIns="0" tIns="0" rIns="0" bIns="0" rtlCol="0" anchor="t"/>
          <a:lstStyle/>
          <a:p>
            <a:pPr indent="0" marL="0">
              <a:buNone/>
            </a:pPr>
            <a:r>
              <a:rPr lang="en-US" sz="820" dirty="0">
                <a:solidFill>
                  <a:srgbClr val="C084FC"/>
                </a:solidFill>
                <a:latin typeface="Consolas" pitchFamily="34" charset="0"/>
                <a:ea typeface="Consolas" pitchFamily="34" charset="-122"/>
                <a:cs typeface="Consolas" pitchFamily="34" charset="-120"/>
              </a:rPr>
              <a:t>if </a:t>
            </a:r>
            <a:pPr indent="0" marL="0">
              <a:buNone/>
            </a:pPr>
            <a:r>
              <a:rPr lang="en-US" sz="820" dirty="0">
                <a:solidFill>
                  <a:srgbClr val="7DD3FC"/>
                </a:solidFill>
                <a:latin typeface="Consolas" pitchFamily="34" charset="0"/>
                <a:ea typeface="Consolas" pitchFamily="34" charset="-122"/>
                <a:cs typeface="Consolas" pitchFamily="34" charset="-120"/>
              </a:rPr>
              <a:t>st.button</a:t>
            </a:r>
            <a:pPr indent="0" marL="0">
              <a:buNone/>
            </a:pPr>
            <a:r>
              <a:rPr lang="en-US" sz="820" dirty="0">
                <a:solidFill>
                  <a:srgbClr val="FFFFFF"/>
                </a:solidFill>
                <a:latin typeface="Consolas" pitchFamily="34" charset="0"/>
                <a:ea typeface="Consolas" pitchFamily="34" charset="-122"/>
                <a:cs typeface="Consolas" pitchFamily="34" charset="-120"/>
              </a:rPr>
              <a:t>("Assess Risk"):</a:t>
            </a:r>
            <a:endParaRPr lang="en-US" sz="820" dirty="0"/>
          </a:p>
        </p:txBody>
      </p:sp>
      <p:sp>
        <p:nvSpPr>
          <p:cNvPr id="22" name="Text 20"/>
          <p:cNvSpPr/>
          <p:nvPr/>
        </p:nvSpPr>
        <p:spPr>
          <a:xfrm>
            <a:off x="402336" y="4050792"/>
            <a:ext cx="4315968" cy="164592"/>
          </a:xfrm>
          <a:prstGeom prst="rect">
            <a:avLst/>
          </a:prstGeom>
          <a:noFill/>
          <a:ln/>
        </p:spPr>
        <p:txBody>
          <a:bodyPr wrap="square" lIns="0" tIns="0" rIns="0" bIns="0" rtlCol="0" anchor="t"/>
          <a:lstStyle/>
          <a:p>
            <a:pPr indent="0" marL="0">
              <a:buNone/>
            </a:pPr>
            <a:r>
              <a:rPr lang="en-US" sz="820" dirty="0">
                <a:solidFill>
                  <a:srgbClr val="94A3B8"/>
                </a:solidFill>
                <a:latin typeface="Consolas" pitchFamily="34" charset="0"/>
                <a:ea typeface="Consolas" pitchFamily="34" charset="-122"/>
                <a:cs typeface="Consolas" pitchFamily="34" charset="-120"/>
              </a:rPr>
              <a:t>    # SAME feature engineering as notebook</a:t>
            </a:r>
            <a:endParaRPr lang="en-US" sz="820" dirty="0"/>
          </a:p>
        </p:txBody>
      </p:sp>
      <p:sp>
        <p:nvSpPr>
          <p:cNvPr id="23" name="Text 21"/>
          <p:cNvSpPr/>
          <p:nvPr/>
        </p:nvSpPr>
        <p:spPr>
          <a:xfrm>
            <a:off x="402336" y="4220870"/>
            <a:ext cx="4315968" cy="164592"/>
          </a:xfrm>
          <a:prstGeom prst="rect">
            <a:avLst/>
          </a:prstGeom>
          <a:noFill/>
          <a:ln/>
        </p:spPr>
        <p:txBody>
          <a:bodyPr wrap="square" lIns="0" tIns="0" rIns="0" bIns="0" rtlCol="0" anchor="t"/>
          <a:lstStyle/>
          <a:p>
            <a:pPr indent="0" marL="0">
              <a:buNone/>
            </a:pPr>
            <a:r>
              <a:rPr lang="en-US" sz="820" dirty="0">
                <a:solidFill>
                  <a:srgbClr val="FFFFFF"/>
                </a:solidFill>
                <a:latin typeface="Consolas" pitchFamily="34" charset="0"/>
                <a:ea typeface="Consolas" pitchFamily="34" charset="-122"/>
                <a:cs typeface="Consolas" pitchFamily="34" charset="-120"/>
              </a:rPr>
              <a:t>    score = delq30*1 + delq60*2 + delq90*3</a:t>
            </a:r>
            <a:endParaRPr lang="en-US" sz="820" dirty="0"/>
          </a:p>
        </p:txBody>
      </p:sp>
      <p:sp>
        <p:nvSpPr>
          <p:cNvPr id="24" name="Text 22"/>
          <p:cNvSpPr/>
          <p:nvPr/>
        </p:nvSpPr>
        <p:spPr>
          <a:xfrm>
            <a:off x="402336" y="4390949"/>
            <a:ext cx="4315968" cy="164592"/>
          </a:xfrm>
          <a:prstGeom prst="rect">
            <a:avLst/>
          </a:prstGeom>
          <a:noFill/>
          <a:ln/>
        </p:spPr>
        <p:txBody>
          <a:bodyPr wrap="square" lIns="0" tIns="0" rIns="0" bIns="0" rtlCol="0" anchor="t"/>
          <a:lstStyle/>
          <a:p>
            <a:pPr indent="0" marL="0">
              <a:buNone/>
            </a:pPr>
            <a:r>
              <a:rPr lang="en-US" sz="820" dirty="0">
                <a:solidFill>
                  <a:srgbClr val="FFFFFF"/>
                </a:solidFill>
                <a:latin typeface="Consolas" pitchFamily="34" charset="0"/>
                <a:ea typeface="Consolas" pitchFamily="34" charset="-122"/>
                <a:cs typeface="Consolas" pitchFamily="34" charset="-120"/>
              </a:rPr>
              <a:t>    has_delq = int(score &gt; 0)</a:t>
            </a:r>
            <a:endParaRPr lang="en-US" sz="820" dirty="0"/>
          </a:p>
        </p:txBody>
      </p:sp>
      <p:sp>
        <p:nvSpPr>
          <p:cNvPr id="25" name="Text 23"/>
          <p:cNvSpPr/>
          <p:nvPr/>
        </p:nvSpPr>
        <p:spPr>
          <a:xfrm>
            <a:off x="402336" y="4561027"/>
            <a:ext cx="4315968" cy="164592"/>
          </a:xfrm>
          <a:prstGeom prst="rect">
            <a:avLst/>
          </a:prstGeom>
          <a:noFill/>
          <a:ln/>
        </p:spPr>
        <p:txBody>
          <a:bodyPr wrap="square" lIns="0" tIns="0" rIns="0" bIns="0" rtlCol="0" anchor="t"/>
          <a:lstStyle/>
          <a:p>
            <a:pPr indent="0" marL="0">
              <a:buNone/>
            </a:pPr>
            <a:r>
              <a:rPr lang="en-US" sz="820" dirty="0">
                <a:solidFill>
                  <a:srgbClr val="86EFAC"/>
                </a:solidFill>
                <a:latin typeface="Consolas" pitchFamily="34" charset="0"/>
                <a:ea typeface="Consolas" pitchFamily="34" charset="-122"/>
                <a:cs typeface="Consolas" pitchFamily="34" charset="-120"/>
              </a:rPr>
              <a:t>    prob  = pipeline.predict_proba(df)[0][1]</a:t>
            </a:r>
            <a:endParaRPr lang="en-US" sz="820" dirty="0"/>
          </a:p>
        </p:txBody>
      </p:sp>
      <p:sp>
        <p:nvSpPr>
          <p:cNvPr id="26" name="Text 24"/>
          <p:cNvSpPr/>
          <p:nvPr/>
        </p:nvSpPr>
        <p:spPr>
          <a:xfrm>
            <a:off x="402336" y="4731106"/>
            <a:ext cx="4315968" cy="164592"/>
          </a:xfrm>
          <a:prstGeom prst="rect">
            <a:avLst/>
          </a:prstGeom>
          <a:noFill/>
          <a:ln/>
        </p:spPr>
        <p:txBody>
          <a:bodyPr wrap="square" lIns="0" tIns="0" rIns="0" bIns="0" rtlCol="0" anchor="t"/>
          <a:lstStyle/>
          <a:p>
            <a:pPr indent="0" marL="0">
              <a:buNone/>
            </a:pPr>
            <a:r>
              <a:rPr lang="en-US" sz="820" dirty="0">
                <a:solidFill>
                  <a:srgbClr val="7DD3FC"/>
                </a:solidFill>
                <a:latin typeface="Consolas" pitchFamily="34" charset="0"/>
                <a:ea typeface="Consolas" pitchFamily="34" charset="-122"/>
                <a:cs typeface="Consolas" pitchFamily="34" charset="-120"/>
              </a:rPr>
              <a:t>    st.success</a:t>
            </a:r>
            <a:pPr indent="0" marL="0">
              <a:buNone/>
            </a:pPr>
            <a:r>
              <a:rPr lang="en-US" sz="820" dirty="0">
                <a:solidFill>
                  <a:srgbClr val="FFFFFF"/>
                </a:solidFill>
                <a:latin typeface="Consolas" pitchFamily="34" charset="0"/>
                <a:ea typeface="Consolas" pitchFamily="34" charset="-122"/>
                <a:cs typeface="Consolas" pitchFamily="34" charset="-120"/>
              </a:rPr>
              <a:t>(f"Risk: {prob:.1%}")</a:t>
            </a:r>
            <a:endParaRPr lang="en-US" sz="820" dirty="0"/>
          </a:p>
        </p:txBody>
      </p:sp>
      <p:sp>
        <p:nvSpPr>
          <p:cNvPr id="27" name="Shape 25"/>
          <p:cNvSpPr/>
          <p:nvPr/>
        </p:nvSpPr>
        <p:spPr>
          <a:xfrm>
            <a:off x="5047488" y="1188720"/>
            <a:ext cx="3822192" cy="786384"/>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8" name="Shape 26"/>
          <p:cNvSpPr/>
          <p:nvPr/>
        </p:nvSpPr>
        <p:spPr>
          <a:xfrm>
            <a:off x="5047488" y="1188720"/>
            <a:ext cx="64008" cy="786384"/>
          </a:xfrm>
          <a:prstGeom prst="rect">
            <a:avLst/>
          </a:prstGeom>
          <a:solidFill>
            <a:srgbClr val="F97316"/>
          </a:solidFill>
          <a:ln w="12700">
            <a:solidFill>
              <a:srgbClr val="F97316"/>
            </a:solidFill>
            <a:prstDash val="solid"/>
          </a:ln>
        </p:spPr>
      </p:sp>
      <p:sp>
        <p:nvSpPr>
          <p:cNvPr id="29" name="Text 27"/>
          <p:cNvSpPr/>
          <p:nvPr/>
        </p:nvSpPr>
        <p:spPr>
          <a:xfrm>
            <a:off x="5175504" y="1243584"/>
            <a:ext cx="3566160" cy="256032"/>
          </a:xfrm>
          <a:prstGeom prst="rect">
            <a:avLst/>
          </a:prstGeom>
          <a:noFill/>
          <a:ln/>
        </p:spPr>
        <p:txBody>
          <a:bodyPr wrap="square" lIns="0" tIns="0" rIns="0" bIns="0" rtlCol="0" anchor="ctr"/>
          <a:lstStyle/>
          <a:p>
            <a:pPr indent="0" marL="0">
              <a:buNone/>
            </a:pPr>
            <a:r>
              <a:rPr lang="en-US" sz="950" b="1" dirty="0">
                <a:solidFill>
                  <a:srgbClr val="F97316"/>
                </a:solidFill>
                <a:latin typeface="Consolas" pitchFamily="34" charset="0"/>
                <a:ea typeface="Consolas" pitchFamily="34" charset="-122"/>
                <a:cs typeface="Consolas" pitchFamily="34" charset="-120"/>
              </a:rPr>
              <a:t>@st.cache_resource</a:t>
            </a:r>
            <a:endParaRPr lang="en-US" sz="950" dirty="0"/>
          </a:p>
        </p:txBody>
      </p:sp>
      <p:sp>
        <p:nvSpPr>
          <p:cNvPr id="30" name="Text 28"/>
          <p:cNvSpPr/>
          <p:nvPr/>
        </p:nvSpPr>
        <p:spPr>
          <a:xfrm>
            <a:off x="5175504" y="1536192"/>
            <a:ext cx="3566160" cy="38404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Tells Streamlit to load the pipeline once when the app starts, not on every click. Prevents re-loading the model on every interaction.</a:t>
            </a:r>
            <a:endParaRPr lang="en-US" sz="900" dirty="0"/>
          </a:p>
        </p:txBody>
      </p:sp>
      <p:sp>
        <p:nvSpPr>
          <p:cNvPr id="31" name="Shape 29"/>
          <p:cNvSpPr/>
          <p:nvPr/>
        </p:nvSpPr>
        <p:spPr>
          <a:xfrm>
            <a:off x="5047488" y="2084832"/>
            <a:ext cx="3822192" cy="786384"/>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32" name="Shape 30"/>
          <p:cNvSpPr/>
          <p:nvPr/>
        </p:nvSpPr>
        <p:spPr>
          <a:xfrm>
            <a:off x="5047488" y="2084832"/>
            <a:ext cx="64008" cy="786384"/>
          </a:xfrm>
          <a:prstGeom prst="rect">
            <a:avLst/>
          </a:prstGeom>
          <a:solidFill>
            <a:srgbClr val="0D9488"/>
          </a:solidFill>
          <a:ln w="12700">
            <a:solidFill>
              <a:srgbClr val="0D9488"/>
            </a:solidFill>
            <a:prstDash val="solid"/>
          </a:ln>
        </p:spPr>
      </p:sp>
      <p:sp>
        <p:nvSpPr>
          <p:cNvPr id="33" name="Text 31"/>
          <p:cNvSpPr/>
          <p:nvPr/>
        </p:nvSpPr>
        <p:spPr>
          <a:xfrm>
            <a:off x="5175504" y="2139696"/>
            <a:ext cx="3566160" cy="256032"/>
          </a:xfrm>
          <a:prstGeom prst="rect">
            <a:avLst/>
          </a:prstGeom>
          <a:noFill/>
          <a:ln/>
        </p:spPr>
        <p:txBody>
          <a:bodyPr wrap="square" lIns="0" tIns="0" rIns="0" bIns="0" rtlCol="0" anchor="ctr"/>
          <a:lstStyle/>
          <a:p>
            <a:pPr indent="0" marL="0">
              <a:buNone/>
            </a:pPr>
            <a:r>
              <a:rPr lang="en-US" sz="950" b="1" dirty="0">
                <a:solidFill>
                  <a:srgbClr val="0D9488"/>
                </a:solidFill>
                <a:latin typeface="Consolas" pitchFamily="34" charset="0"/>
                <a:ea typeface="Consolas" pitchFamily="34" charset="-122"/>
                <a:cs typeface="Consolas" pitchFamily="34" charset="-120"/>
              </a:rPr>
              <a:t>joblib.load()</a:t>
            </a:r>
            <a:endParaRPr lang="en-US" sz="950" dirty="0"/>
          </a:p>
        </p:txBody>
      </p:sp>
      <p:sp>
        <p:nvSpPr>
          <p:cNvPr id="34" name="Text 32"/>
          <p:cNvSpPr/>
          <p:nvPr/>
        </p:nvSpPr>
        <p:spPr>
          <a:xfrm>
            <a:off x="5175504" y="2432304"/>
            <a:ext cx="3566160" cy="38404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Loads the .pkl file from disk. The full pipeline — OutlierCapper, Imputer, Scaler, Model — is now one object ready to use.</a:t>
            </a:r>
            <a:endParaRPr lang="en-US" sz="900" dirty="0"/>
          </a:p>
        </p:txBody>
      </p:sp>
      <p:sp>
        <p:nvSpPr>
          <p:cNvPr id="35" name="Shape 33"/>
          <p:cNvSpPr/>
          <p:nvPr/>
        </p:nvSpPr>
        <p:spPr>
          <a:xfrm>
            <a:off x="5047488" y="2980944"/>
            <a:ext cx="3822192" cy="786384"/>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36" name="Shape 34"/>
          <p:cNvSpPr/>
          <p:nvPr/>
        </p:nvSpPr>
        <p:spPr>
          <a:xfrm>
            <a:off x="5047488" y="2980944"/>
            <a:ext cx="64008" cy="786384"/>
          </a:xfrm>
          <a:prstGeom prst="rect">
            <a:avLst/>
          </a:prstGeom>
          <a:solidFill>
            <a:srgbClr val="7C3AED"/>
          </a:solidFill>
          <a:ln w="12700">
            <a:solidFill>
              <a:srgbClr val="7C3AED"/>
            </a:solidFill>
            <a:prstDash val="solid"/>
          </a:ln>
        </p:spPr>
      </p:sp>
      <p:sp>
        <p:nvSpPr>
          <p:cNvPr id="37" name="Text 35"/>
          <p:cNvSpPr/>
          <p:nvPr/>
        </p:nvSpPr>
        <p:spPr>
          <a:xfrm>
            <a:off x="5175504" y="3035808"/>
            <a:ext cx="3566160" cy="256032"/>
          </a:xfrm>
          <a:prstGeom prst="rect">
            <a:avLst/>
          </a:prstGeom>
          <a:noFill/>
          <a:ln/>
        </p:spPr>
        <p:txBody>
          <a:bodyPr wrap="square" lIns="0" tIns="0" rIns="0" bIns="0" rtlCol="0" anchor="ctr"/>
          <a:lstStyle/>
          <a:p>
            <a:pPr indent="0" marL="0">
              <a:buNone/>
            </a:pPr>
            <a:r>
              <a:rPr lang="en-US" sz="950" b="1" dirty="0">
                <a:solidFill>
                  <a:srgbClr val="7C3AED"/>
                </a:solidFill>
                <a:latin typeface="Consolas" pitchFamily="34" charset="0"/>
                <a:ea typeface="Consolas" pitchFamily="34" charset="-122"/>
                <a:cs typeface="Consolas" pitchFamily="34" charset="-120"/>
              </a:rPr>
              <a:t>Feature engineering</a:t>
            </a:r>
            <a:endParaRPr lang="en-US" sz="950" dirty="0"/>
          </a:p>
        </p:txBody>
      </p:sp>
      <p:sp>
        <p:nvSpPr>
          <p:cNvPr id="38" name="Text 36"/>
          <p:cNvSpPr/>
          <p:nvPr/>
        </p:nvSpPr>
        <p:spPr>
          <a:xfrm>
            <a:off x="5175504" y="3328416"/>
            <a:ext cx="3566160" cy="38404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The app must compute delq_severity_score and has_any_delq before calling the pipeline. This must match exactly what was done in the training notebook.</a:t>
            </a:r>
            <a:endParaRPr lang="en-US" sz="900" dirty="0"/>
          </a:p>
        </p:txBody>
      </p:sp>
      <p:sp>
        <p:nvSpPr>
          <p:cNvPr id="39" name="Shape 37"/>
          <p:cNvSpPr/>
          <p:nvPr/>
        </p:nvSpPr>
        <p:spPr>
          <a:xfrm>
            <a:off x="5047488" y="3877056"/>
            <a:ext cx="3822192" cy="786384"/>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40" name="Shape 38"/>
          <p:cNvSpPr/>
          <p:nvPr/>
        </p:nvSpPr>
        <p:spPr>
          <a:xfrm>
            <a:off x="5047488" y="3877056"/>
            <a:ext cx="64008" cy="786384"/>
          </a:xfrm>
          <a:prstGeom prst="rect">
            <a:avLst/>
          </a:prstGeom>
          <a:solidFill>
            <a:srgbClr val="16A34A"/>
          </a:solidFill>
          <a:ln w="12700">
            <a:solidFill>
              <a:srgbClr val="16A34A"/>
            </a:solidFill>
            <a:prstDash val="solid"/>
          </a:ln>
        </p:spPr>
      </p:sp>
      <p:sp>
        <p:nvSpPr>
          <p:cNvPr id="41" name="Text 39"/>
          <p:cNvSpPr/>
          <p:nvPr/>
        </p:nvSpPr>
        <p:spPr>
          <a:xfrm>
            <a:off x="5175504" y="3931920"/>
            <a:ext cx="3566160" cy="256032"/>
          </a:xfrm>
          <a:prstGeom prst="rect">
            <a:avLst/>
          </a:prstGeom>
          <a:noFill/>
          <a:ln/>
        </p:spPr>
        <p:txBody>
          <a:bodyPr wrap="square" lIns="0" tIns="0" rIns="0" bIns="0" rtlCol="0" anchor="ctr"/>
          <a:lstStyle/>
          <a:p>
            <a:pPr indent="0" marL="0">
              <a:buNone/>
            </a:pPr>
            <a:r>
              <a:rPr lang="en-US" sz="950" b="1" dirty="0">
                <a:solidFill>
                  <a:srgbClr val="16A34A"/>
                </a:solidFill>
                <a:latin typeface="Consolas" pitchFamily="34" charset="0"/>
                <a:ea typeface="Consolas" pitchFamily="34" charset="-122"/>
                <a:cs typeface="Consolas" pitchFamily="34" charset="-120"/>
              </a:rPr>
              <a:t>predict_proba(df)[0][1]</a:t>
            </a:r>
            <a:endParaRPr lang="en-US" sz="950" dirty="0"/>
          </a:p>
        </p:txBody>
      </p:sp>
      <p:sp>
        <p:nvSpPr>
          <p:cNvPr id="42" name="Text 40"/>
          <p:cNvSpPr/>
          <p:nvPr/>
        </p:nvSpPr>
        <p:spPr>
          <a:xfrm>
            <a:off x="5175504" y="4224528"/>
            <a:ext cx="3566160" cy="384048"/>
          </a:xfrm>
          <a:prstGeom prst="rect">
            <a:avLst/>
          </a:prstGeom>
          <a:noFill/>
          <a:ln/>
        </p:spPr>
        <p:txBody>
          <a:bodyPr wrap="square" lIns="0" tIns="0" rIns="0" bIns="0" rtlCol="0" anchor="ctr"/>
          <a:lstStyle/>
          <a:p>
            <a:pPr indent="0" marL="0">
              <a:buNone/>
            </a:pPr>
            <a:r>
              <a:rPr lang="en-US" sz="900" dirty="0">
                <a:solidFill>
                  <a:srgbClr val="0F172A"/>
                </a:solidFill>
                <a:latin typeface="Calibri" pitchFamily="34" charset="0"/>
                <a:ea typeface="Calibri" pitchFamily="34" charset="-122"/>
                <a:cs typeface="Calibri" pitchFamily="34" charset="-120"/>
              </a:rPr>
              <a:t>[0] = first row of the DataFrame. [1] = probability of class 1 (default). This is a number between 0 and 1 which we show as a percentage.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Project Folder Structure</a:t>
            </a:r>
            <a:endParaRPr lang="en-US" sz="2200" dirty="0"/>
          </a:p>
        </p:txBody>
      </p:sp>
      <p:sp>
        <p:nvSpPr>
          <p:cNvPr id="4" name="Text 2"/>
          <p:cNvSpPr/>
          <p:nvPr/>
        </p:nvSpPr>
        <p:spPr>
          <a:xfrm>
            <a:off x="365760" y="749808"/>
            <a:ext cx="8412480" cy="347472"/>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All files must be in the right place. The .pkl file must be in the same folder as the app script.</a:t>
            </a:r>
            <a:endParaRPr lang="en-US" sz="1150" dirty="0"/>
          </a:p>
        </p:txBody>
      </p:sp>
      <p:sp>
        <p:nvSpPr>
          <p:cNvPr id="5" name="Shape 3"/>
          <p:cNvSpPr/>
          <p:nvPr/>
        </p:nvSpPr>
        <p:spPr>
          <a:xfrm>
            <a:off x="274320" y="1188720"/>
            <a:ext cx="3931920" cy="3703320"/>
          </a:xfrm>
          <a:prstGeom prst="rect">
            <a:avLst/>
          </a:prstGeom>
          <a:solidFill>
            <a:srgbClr val="1E293B"/>
          </a:solidFill>
          <a:ln w="12700">
            <a:solidFill>
              <a:srgbClr val="1E293B"/>
            </a:solidFill>
            <a:prstDash val="solid"/>
          </a:ln>
          <a:effectLst>
            <a:outerShdw sx="100000" sy="100000" kx="0" ky="0" algn="bl" rotWithShape="0" blurRad="76200" dist="38100" dir="8100000">
              <a:srgbClr val="000000">
                <a:alpha val="10000"/>
              </a:srgbClr>
            </a:outerShdw>
          </a:effectLst>
        </p:spPr>
      </p:sp>
      <p:sp>
        <p:nvSpPr>
          <p:cNvPr id="6" name="Text 4"/>
          <p:cNvSpPr/>
          <p:nvPr/>
        </p:nvSpPr>
        <p:spPr>
          <a:xfrm>
            <a:off x="274320" y="1188720"/>
            <a:ext cx="3931920" cy="274320"/>
          </a:xfrm>
          <a:prstGeom prst="rect">
            <a:avLst/>
          </a:prstGeom>
          <a:noFill/>
          <a:ln/>
        </p:spPr>
        <p:txBody>
          <a:bodyPr wrap="square" lIns="0" tIns="0" rIns="0" bIns="0" rtlCol="0" anchor="ctr"/>
          <a:lstStyle/>
          <a:p>
            <a:pPr algn="ctr" indent="0" marL="0">
              <a:buNone/>
            </a:pPr>
            <a:r>
              <a:rPr lang="en-US" sz="900" b="1" dirty="0">
                <a:solidFill>
                  <a:srgbClr val="0D9488"/>
                </a:solidFill>
                <a:latin typeface="Consolas" pitchFamily="34" charset="0"/>
                <a:ea typeface="Consolas" pitchFamily="34" charset="-122"/>
                <a:cs typeface="Consolas" pitchFamily="34" charset="-120"/>
              </a:rPr>
              <a:t>group_project/</a:t>
            </a:r>
            <a:endParaRPr lang="en-US" sz="900" dirty="0"/>
          </a:p>
        </p:txBody>
      </p:sp>
      <p:sp>
        <p:nvSpPr>
          <p:cNvPr id="7" name="Text 5"/>
          <p:cNvSpPr/>
          <p:nvPr/>
        </p:nvSpPr>
        <p:spPr>
          <a:xfrm>
            <a:off x="402336" y="1499616"/>
            <a:ext cx="3675888" cy="329184"/>
          </a:xfrm>
          <a:prstGeom prst="rect">
            <a:avLst/>
          </a:prstGeom>
          <a:noFill/>
          <a:ln/>
        </p:spPr>
        <p:txBody>
          <a:bodyPr wrap="square" lIns="0" tIns="0" rIns="0" bIns="0" rtlCol="0" anchor="ctr"/>
          <a:lstStyle/>
          <a:p>
            <a:pPr indent="0" marL="0">
              <a:buNone/>
            </a:pPr>
            <a:r>
              <a:rPr lang="en-US" sz="880" dirty="0">
                <a:solidFill>
                  <a:srgbClr val="FCD34D"/>
                </a:solidFill>
                <a:latin typeface="Consolas" pitchFamily="34" charset="0"/>
                <a:ea typeface="Consolas" pitchFamily="34" charset="-122"/>
                <a:cs typeface="Consolas" pitchFamily="34" charset="-120"/>
              </a:rPr>
              <a:t>group_project/</a:t>
            </a:r>
            <a:endParaRPr lang="en-US" sz="880" dirty="0"/>
          </a:p>
        </p:txBody>
      </p:sp>
      <p:sp>
        <p:nvSpPr>
          <p:cNvPr id="8" name="Text 6"/>
          <p:cNvSpPr/>
          <p:nvPr/>
        </p:nvSpPr>
        <p:spPr>
          <a:xfrm>
            <a:off x="402336" y="1847088"/>
            <a:ext cx="3675888" cy="329184"/>
          </a:xfrm>
          <a:prstGeom prst="rect">
            <a:avLst/>
          </a:prstGeom>
          <a:noFill/>
          <a:ln/>
        </p:spPr>
        <p:txBody>
          <a:bodyPr wrap="square" lIns="0" tIns="0" rIns="0" bIns="0" rtlCol="0" anchor="ctr"/>
          <a:lstStyle/>
          <a:p>
            <a:pPr indent="0" marL="0">
              <a:buNone/>
            </a:pPr>
            <a:r>
              <a:rPr lang="en-US" sz="880" dirty="0">
                <a:solidFill>
                  <a:srgbClr val="94A3B8"/>
                </a:solidFill>
                <a:latin typeface="Consolas" pitchFamily="34" charset="0"/>
                <a:ea typeface="Consolas" pitchFamily="34" charset="-122"/>
                <a:cs typeface="Consolas" pitchFamily="34" charset="-120"/>
              </a:rPr>
              <a:t>├─ data/</a:t>
            </a:r>
            <a:endParaRPr lang="en-US" sz="880" dirty="0"/>
          </a:p>
        </p:txBody>
      </p:sp>
      <p:sp>
        <p:nvSpPr>
          <p:cNvPr id="9" name="Text 7"/>
          <p:cNvSpPr/>
          <p:nvPr/>
        </p:nvSpPr>
        <p:spPr>
          <a:xfrm>
            <a:off x="402336" y="2194560"/>
            <a:ext cx="3675888" cy="329184"/>
          </a:xfrm>
          <a:prstGeom prst="rect">
            <a:avLst/>
          </a:prstGeom>
          <a:noFill/>
          <a:ln/>
        </p:spPr>
        <p:txBody>
          <a:bodyPr wrap="square" lIns="0" tIns="0" rIns="0" bIns="0" rtlCol="0" anchor="ctr"/>
          <a:lstStyle/>
          <a:p>
            <a:pPr indent="0" marL="0">
              <a:buNone/>
            </a:pPr>
            <a:r>
              <a:rPr lang="en-US" sz="880" dirty="0">
                <a:solidFill>
                  <a:srgbClr val="FFFFFF"/>
                </a:solidFill>
                <a:latin typeface="Consolas" pitchFamily="34" charset="0"/>
                <a:ea typeface="Consolas" pitchFamily="34" charset="-122"/>
                <a:cs typeface="Consolas" pitchFamily="34" charset="-120"/>
              </a:rPr>
              <a:t>│    └─ cs-training.csv</a:t>
            </a:r>
            <a:endParaRPr lang="en-US" sz="880" dirty="0"/>
          </a:p>
        </p:txBody>
      </p:sp>
      <p:sp>
        <p:nvSpPr>
          <p:cNvPr id="10" name="Text 8"/>
          <p:cNvSpPr/>
          <p:nvPr/>
        </p:nvSpPr>
        <p:spPr>
          <a:xfrm>
            <a:off x="402336" y="2542032"/>
            <a:ext cx="3675888" cy="329184"/>
          </a:xfrm>
          <a:prstGeom prst="rect">
            <a:avLst/>
          </a:prstGeom>
          <a:noFill/>
          <a:ln/>
        </p:spPr>
        <p:txBody>
          <a:bodyPr wrap="square" lIns="0" tIns="0" rIns="0" bIns="0" rtlCol="0" anchor="ctr"/>
          <a:lstStyle/>
          <a:p>
            <a:pPr indent="0" marL="0">
              <a:buNone/>
            </a:pPr>
            <a:r>
              <a:rPr lang="en-US" sz="880" dirty="0">
                <a:solidFill>
                  <a:srgbClr val="94A3B8"/>
                </a:solidFill>
                <a:latin typeface="Consolas" pitchFamily="34" charset="0"/>
                <a:ea typeface="Consolas" pitchFamily="34" charset="-122"/>
                <a:cs typeface="Consolas" pitchFamily="34" charset="-120"/>
              </a:rPr>
              <a:t>├─ scripts/</a:t>
            </a:r>
            <a:endParaRPr lang="en-US" sz="880" dirty="0"/>
          </a:p>
        </p:txBody>
      </p:sp>
      <p:sp>
        <p:nvSpPr>
          <p:cNvPr id="11" name="Text 9"/>
          <p:cNvSpPr/>
          <p:nvPr/>
        </p:nvSpPr>
        <p:spPr>
          <a:xfrm>
            <a:off x="402336" y="2889504"/>
            <a:ext cx="3675888" cy="329184"/>
          </a:xfrm>
          <a:prstGeom prst="rect">
            <a:avLst/>
          </a:prstGeom>
          <a:noFill/>
          <a:ln/>
        </p:spPr>
        <p:txBody>
          <a:bodyPr wrap="square" lIns="0" tIns="0" rIns="0" bIns="0" rtlCol="0" anchor="ctr"/>
          <a:lstStyle/>
          <a:p>
            <a:pPr indent="0" marL="0">
              <a:buNone/>
            </a:pPr>
            <a:r>
              <a:rPr lang="en-US" sz="880" dirty="0">
                <a:solidFill>
                  <a:srgbClr val="FFFFFF"/>
                </a:solidFill>
                <a:latin typeface="Consolas" pitchFamily="34" charset="0"/>
                <a:ea typeface="Consolas" pitchFamily="34" charset="-122"/>
                <a:cs typeface="Consolas" pitchFamily="34" charset="-120"/>
              </a:rPr>
              <a:t>│    ├─ EDA_Give_Me_Some_Credit.ipynb</a:t>
            </a:r>
            <a:endParaRPr lang="en-US" sz="880" dirty="0"/>
          </a:p>
        </p:txBody>
      </p:sp>
      <p:sp>
        <p:nvSpPr>
          <p:cNvPr id="12" name="Text 10"/>
          <p:cNvSpPr/>
          <p:nvPr/>
        </p:nvSpPr>
        <p:spPr>
          <a:xfrm>
            <a:off x="402336" y="3236976"/>
            <a:ext cx="3675888" cy="329184"/>
          </a:xfrm>
          <a:prstGeom prst="rect">
            <a:avLst/>
          </a:prstGeom>
          <a:noFill/>
          <a:ln/>
        </p:spPr>
        <p:txBody>
          <a:bodyPr wrap="square" lIns="0" tIns="0" rIns="0" bIns="0" rtlCol="0" anchor="ctr"/>
          <a:lstStyle/>
          <a:p>
            <a:pPr indent="0" marL="0">
              <a:buNone/>
            </a:pPr>
            <a:r>
              <a:rPr lang="en-US" sz="880" dirty="0">
                <a:solidFill>
                  <a:srgbClr val="FFFFFF"/>
                </a:solidFill>
                <a:latin typeface="Consolas" pitchFamily="34" charset="0"/>
                <a:ea typeface="Consolas" pitchFamily="34" charset="-122"/>
                <a:cs typeface="Consolas" pitchFamily="34" charset="-120"/>
              </a:rPr>
              <a:t>│    ├─ Pipeline_v2_...ipynb</a:t>
            </a:r>
            <a:endParaRPr lang="en-US" sz="880" dirty="0"/>
          </a:p>
        </p:txBody>
      </p:sp>
      <p:sp>
        <p:nvSpPr>
          <p:cNvPr id="13" name="Text 11"/>
          <p:cNvSpPr/>
          <p:nvPr/>
        </p:nvSpPr>
        <p:spPr>
          <a:xfrm>
            <a:off x="402336" y="3584448"/>
            <a:ext cx="3675888" cy="329184"/>
          </a:xfrm>
          <a:prstGeom prst="rect">
            <a:avLst/>
          </a:prstGeom>
          <a:noFill/>
          <a:ln/>
        </p:spPr>
        <p:txBody>
          <a:bodyPr wrap="square" lIns="0" tIns="0" rIns="0" bIns="0" rtlCol="0" anchor="ctr"/>
          <a:lstStyle/>
          <a:p>
            <a:pPr indent="0" marL="0">
              <a:buNone/>
            </a:pPr>
            <a:r>
              <a:rPr lang="en-US" sz="880" dirty="0">
                <a:solidFill>
                  <a:srgbClr val="86EFAC"/>
                </a:solidFill>
                <a:latin typeface="Consolas" pitchFamily="34" charset="0"/>
                <a:ea typeface="Consolas" pitchFamily="34" charset="-122"/>
                <a:cs typeface="Consolas" pitchFamily="34" charset="-120"/>
              </a:rPr>
              <a:t>│    ├─ app_simple.py</a:t>
            </a:r>
            <a:endParaRPr lang="en-US" sz="880" dirty="0"/>
          </a:p>
        </p:txBody>
      </p:sp>
      <p:sp>
        <p:nvSpPr>
          <p:cNvPr id="14" name="Text 12"/>
          <p:cNvSpPr/>
          <p:nvPr/>
        </p:nvSpPr>
        <p:spPr>
          <a:xfrm>
            <a:off x="402336" y="3931920"/>
            <a:ext cx="3675888" cy="329184"/>
          </a:xfrm>
          <a:prstGeom prst="rect">
            <a:avLst/>
          </a:prstGeom>
          <a:noFill/>
          <a:ln/>
        </p:spPr>
        <p:txBody>
          <a:bodyPr wrap="square" lIns="0" tIns="0" rIns="0" bIns="0" rtlCol="0" anchor="ctr"/>
          <a:lstStyle/>
          <a:p>
            <a:pPr indent="0" marL="0">
              <a:buNone/>
            </a:pPr>
            <a:r>
              <a:rPr lang="en-US" sz="880" dirty="0">
                <a:solidFill>
                  <a:srgbClr val="86EFAC"/>
                </a:solidFill>
                <a:latin typeface="Consolas" pitchFamily="34" charset="0"/>
                <a:ea typeface="Consolas" pitchFamily="34" charset="-122"/>
                <a:cs typeface="Consolas" pitchFamily="34" charset="-120"/>
              </a:rPr>
              <a:t>│    ├─ app_credit_risk.py</a:t>
            </a:r>
            <a:endParaRPr lang="en-US" sz="880" dirty="0"/>
          </a:p>
        </p:txBody>
      </p:sp>
      <p:sp>
        <p:nvSpPr>
          <p:cNvPr id="15" name="Text 13"/>
          <p:cNvSpPr/>
          <p:nvPr/>
        </p:nvSpPr>
        <p:spPr>
          <a:xfrm>
            <a:off x="402336" y="4279392"/>
            <a:ext cx="3675888" cy="329184"/>
          </a:xfrm>
          <a:prstGeom prst="rect">
            <a:avLst/>
          </a:prstGeom>
          <a:noFill/>
          <a:ln/>
        </p:spPr>
        <p:txBody>
          <a:bodyPr wrap="square" lIns="0" tIns="0" rIns="0" bIns="0" rtlCol="0" anchor="ctr"/>
          <a:lstStyle/>
          <a:p>
            <a:pPr indent="0" marL="0">
              <a:buNone/>
            </a:pPr>
            <a:r>
              <a:rPr lang="en-US" sz="880" dirty="0">
                <a:solidFill>
                  <a:srgbClr val="F97316"/>
                </a:solidFill>
                <a:latin typeface="Consolas" pitchFamily="34" charset="0"/>
                <a:ea typeface="Consolas" pitchFamily="34" charset="-122"/>
                <a:cs typeface="Consolas" pitchFamily="34" charset="-120"/>
              </a:rPr>
              <a:t>│    └─ best_pipeline_v2.pkl</a:t>
            </a:r>
            <a:endParaRPr lang="en-US" sz="880" dirty="0"/>
          </a:p>
        </p:txBody>
      </p:sp>
      <p:sp>
        <p:nvSpPr>
          <p:cNvPr id="16" name="Shape 14"/>
          <p:cNvSpPr/>
          <p:nvPr/>
        </p:nvSpPr>
        <p:spPr>
          <a:xfrm>
            <a:off x="4434840" y="1188720"/>
            <a:ext cx="4434840" cy="80467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17" name="Shape 15"/>
          <p:cNvSpPr/>
          <p:nvPr/>
        </p:nvSpPr>
        <p:spPr>
          <a:xfrm>
            <a:off x="4434840" y="1188720"/>
            <a:ext cx="64008" cy="804672"/>
          </a:xfrm>
          <a:prstGeom prst="rect">
            <a:avLst/>
          </a:prstGeom>
          <a:solidFill>
            <a:srgbClr val="16A34A"/>
          </a:solidFill>
          <a:ln w="12700">
            <a:solidFill>
              <a:srgbClr val="16A34A"/>
            </a:solidFill>
            <a:prstDash val="solid"/>
          </a:ln>
        </p:spPr>
      </p:sp>
      <p:sp>
        <p:nvSpPr>
          <p:cNvPr id="18" name="Text 16"/>
          <p:cNvSpPr/>
          <p:nvPr/>
        </p:nvSpPr>
        <p:spPr>
          <a:xfrm>
            <a:off x="4553712" y="1243584"/>
            <a:ext cx="4187952" cy="237744"/>
          </a:xfrm>
          <a:prstGeom prst="rect">
            <a:avLst/>
          </a:prstGeom>
          <a:noFill/>
          <a:ln/>
        </p:spPr>
        <p:txBody>
          <a:bodyPr wrap="square" lIns="0" tIns="0" rIns="0" bIns="0" rtlCol="0" anchor="ctr"/>
          <a:lstStyle/>
          <a:p>
            <a:pPr indent="0" marL="0">
              <a:buNone/>
            </a:pPr>
            <a:r>
              <a:rPr lang="en-US" sz="950" b="1" dirty="0">
                <a:solidFill>
                  <a:srgbClr val="16A34A"/>
                </a:solidFill>
                <a:latin typeface="Consolas" pitchFamily="34" charset="0"/>
                <a:ea typeface="Consolas" pitchFamily="34" charset="-122"/>
                <a:cs typeface="Consolas" pitchFamily="34" charset="-120"/>
              </a:rPr>
              <a:t>app_simple.py</a:t>
            </a:r>
            <a:endParaRPr lang="en-US" sz="950" dirty="0"/>
          </a:p>
        </p:txBody>
      </p:sp>
      <p:sp>
        <p:nvSpPr>
          <p:cNvPr id="19" name="Text 17"/>
          <p:cNvSpPr/>
          <p:nvPr/>
        </p:nvSpPr>
        <p:spPr>
          <a:xfrm>
            <a:off x="4553712" y="1536192"/>
            <a:ext cx="4187952" cy="402336"/>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The calculator app. Run this first to understand how Streamlit works before adding any ML.</a:t>
            </a:r>
            <a:endParaRPr lang="en-US" sz="950" dirty="0"/>
          </a:p>
        </p:txBody>
      </p:sp>
      <p:sp>
        <p:nvSpPr>
          <p:cNvPr id="20" name="Shape 18"/>
          <p:cNvSpPr/>
          <p:nvPr/>
        </p:nvSpPr>
        <p:spPr>
          <a:xfrm>
            <a:off x="4434840" y="2093976"/>
            <a:ext cx="4434840" cy="80467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1" name="Shape 19"/>
          <p:cNvSpPr/>
          <p:nvPr/>
        </p:nvSpPr>
        <p:spPr>
          <a:xfrm>
            <a:off x="4434840" y="2093976"/>
            <a:ext cx="64008" cy="804672"/>
          </a:xfrm>
          <a:prstGeom prst="rect">
            <a:avLst/>
          </a:prstGeom>
          <a:solidFill>
            <a:srgbClr val="16A34A"/>
          </a:solidFill>
          <a:ln w="12700">
            <a:solidFill>
              <a:srgbClr val="16A34A"/>
            </a:solidFill>
            <a:prstDash val="solid"/>
          </a:ln>
        </p:spPr>
      </p:sp>
      <p:sp>
        <p:nvSpPr>
          <p:cNvPr id="22" name="Text 20"/>
          <p:cNvSpPr/>
          <p:nvPr/>
        </p:nvSpPr>
        <p:spPr>
          <a:xfrm>
            <a:off x="4553712" y="2148840"/>
            <a:ext cx="4187952" cy="237744"/>
          </a:xfrm>
          <a:prstGeom prst="rect">
            <a:avLst/>
          </a:prstGeom>
          <a:noFill/>
          <a:ln/>
        </p:spPr>
        <p:txBody>
          <a:bodyPr wrap="square" lIns="0" tIns="0" rIns="0" bIns="0" rtlCol="0" anchor="ctr"/>
          <a:lstStyle/>
          <a:p>
            <a:pPr indent="0" marL="0">
              <a:buNone/>
            </a:pPr>
            <a:r>
              <a:rPr lang="en-US" sz="950" b="1" dirty="0">
                <a:solidFill>
                  <a:srgbClr val="16A34A"/>
                </a:solidFill>
                <a:latin typeface="Consolas" pitchFamily="34" charset="0"/>
                <a:ea typeface="Consolas" pitchFamily="34" charset="-122"/>
                <a:cs typeface="Consolas" pitchFamily="34" charset="-120"/>
              </a:rPr>
              <a:t>app_credit_risk.py</a:t>
            </a:r>
            <a:endParaRPr lang="en-US" sz="950" dirty="0"/>
          </a:p>
        </p:txBody>
      </p:sp>
      <p:sp>
        <p:nvSpPr>
          <p:cNvPr id="23" name="Text 21"/>
          <p:cNvSpPr/>
          <p:nvPr/>
        </p:nvSpPr>
        <p:spPr>
          <a:xfrm>
            <a:off x="4553712" y="2441448"/>
            <a:ext cx="4187952" cy="402336"/>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The full credit risk app. Loads the .pkl pipeline and shows the predicted default probability with a designed interface.</a:t>
            </a:r>
            <a:endParaRPr lang="en-US" sz="950" dirty="0"/>
          </a:p>
        </p:txBody>
      </p:sp>
      <p:sp>
        <p:nvSpPr>
          <p:cNvPr id="24" name="Shape 22"/>
          <p:cNvSpPr/>
          <p:nvPr/>
        </p:nvSpPr>
        <p:spPr>
          <a:xfrm>
            <a:off x="4434840" y="2999232"/>
            <a:ext cx="4434840" cy="80467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5" name="Shape 23"/>
          <p:cNvSpPr/>
          <p:nvPr/>
        </p:nvSpPr>
        <p:spPr>
          <a:xfrm>
            <a:off x="4434840" y="2999232"/>
            <a:ext cx="64008" cy="804672"/>
          </a:xfrm>
          <a:prstGeom prst="rect">
            <a:avLst/>
          </a:prstGeom>
          <a:solidFill>
            <a:srgbClr val="F97316"/>
          </a:solidFill>
          <a:ln w="12700">
            <a:solidFill>
              <a:srgbClr val="F97316"/>
            </a:solidFill>
            <a:prstDash val="solid"/>
          </a:ln>
        </p:spPr>
      </p:sp>
      <p:sp>
        <p:nvSpPr>
          <p:cNvPr id="26" name="Text 24"/>
          <p:cNvSpPr/>
          <p:nvPr/>
        </p:nvSpPr>
        <p:spPr>
          <a:xfrm>
            <a:off x="4553712" y="3054096"/>
            <a:ext cx="4187952" cy="237744"/>
          </a:xfrm>
          <a:prstGeom prst="rect">
            <a:avLst/>
          </a:prstGeom>
          <a:noFill/>
          <a:ln/>
        </p:spPr>
        <p:txBody>
          <a:bodyPr wrap="square" lIns="0" tIns="0" rIns="0" bIns="0" rtlCol="0" anchor="ctr"/>
          <a:lstStyle/>
          <a:p>
            <a:pPr indent="0" marL="0">
              <a:buNone/>
            </a:pPr>
            <a:r>
              <a:rPr lang="en-US" sz="950" b="1" dirty="0">
                <a:solidFill>
                  <a:srgbClr val="F97316"/>
                </a:solidFill>
                <a:latin typeface="Consolas" pitchFamily="34" charset="0"/>
                <a:ea typeface="Consolas" pitchFamily="34" charset="-122"/>
                <a:cs typeface="Consolas" pitchFamily="34" charset="-120"/>
              </a:rPr>
              <a:t>best_pipeline_v2.pkl</a:t>
            </a:r>
            <a:endParaRPr lang="en-US" sz="950" dirty="0"/>
          </a:p>
        </p:txBody>
      </p:sp>
      <p:sp>
        <p:nvSpPr>
          <p:cNvPr id="27" name="Text 25"/>
          <p:cNvSpPr/>
          <p:nvPr/>
        </p:nvSpPr>
        <p:spPr>
          <a:xfrm>
            <a:off x="4553712" y="3346704"/>
            <a:ext cx="4187952" cy="402336"/>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The saved pipeline file. Generated by running Pipeline_v2 notebook. Must sit in the same folder as the app scripts.</a:t>
            </a:r>
            <a:endParaRPr lang="en-US" sz="950" dirty="0"/>
          </a:p>
        </p:txBody>
      </p:sp>
      <p:sp>
        <p:nvSpPr>
          <p:cNvPr id="28" name="Shape 26"/>
          <p:cNvSpPr/>
          <p:nvPr/>
        </p:nvSpPr>
        <p:spPr>
          <a:xfrm>
            <a:off x="4434840" y="3904488"/>
            <a:ext cx="4434840" cy="804672"/>
          </a:xfrm>
          <a:prstGeom prst="rect">
            <a:avLst/>
          </a:prstGeom>
          <a:solidFill>
            <a:srgbClr val="FFFFFF"/>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29" name="Shape 27"/>
          <p:cNvSpPr/>
          <p:nvPr/>
        </p:nvSpPr>
        <p:spPr>
          <a:xfrm>
            <a:off x="4434840" y="3904488"/>
            <a:ext cx="64008" cy="804672"/>
          </a:xfrm>
          <a:prstGeom prst="rect">
            <a:avLst/>
          </a:prstGeom>
          <a:solidFill>
            <a:srgbClr val="0D9488"/>
          </a:solidFill>
          <a:ln w="12700">
            <a:solidFill>
              <a:srgbClr val="0D9488"/>
            </a:solidFill>
            <a:prstDash val="solid"/>
          </a:ln>
        </p:spPr>
      </p:sp>
      <p:sp>
        <p:nvSpPr>
          <p:cNvPr id="30" name="Text 28"/>
          <p:cNvSpPr/>
          <p:nvPr/>
        </p:nvSpPr>
        <p:spPr>
          <a:xfrm>
            <a:off x="4553712" y="3959352"/>
            <a:ext cx="4187952" cy="237744"/>
          </a:xfrm>
          <a:prstGeom prst="rect">
            <a:avLst/>
          </a:prstGeom>
          <a:noFill/>
          <a:ln/>
        </p:spPr>
        <p:txBody>
          <a:bodyPr wrap="square" lIns="0" tIns="0" rIns="0" bIns="0" rtlCol="0" anchor="ctr"/>
          <a:lstStyle/>
          <a:p>
            <a:pPr indent="0" marL="0">
              <a:buNone/>
            </a:pPr>
            <a:r>
              <a:rPr lang="en-US" sz="950" b="1" dirty="0">
                <a:solidFill>
                  <a:srgbClr val="0D9488"/>
                </a:solidFill>
                <a:latin typeface="Consolas" pitchFamily="34" charset="0"/>
                <a:ea typeface="Consolas" pitchFamily="34" charset="-122"/>
                <a:cs typeface="Consolas" pitchFamily="34" charset="-120"/>
              </a:rPr>
              <a:t>Pipeline_v2_...ipynb</a:t>
            </a:r>
            <a:endParaRPr lang="en-US" sz="950" dirty="0"/>
          </a:p>
        </p:txBody>
      </p:sp>
      <p:sp>
        <p:nvSpPr>
          <p:cNvPr id="31" name="Text 29"/>
          <p:cNvSpPr/>
          <p:nvPr/>
        </p:nvSpPr>
        <p:spPr>
          <a:xfrm>
            <a:off x="4553712" y="4251960"/>
            <a:ext cx="4187952" cy="402336"/>
          </a:xfrm>
          <a:prstGeom prst="rect">
            <a:avLst/>
          </a:prstGeom>
          <a:noFill/>
          <a:ln/>
        </p:spPr>
        <p:txBody>
          <a:bodyPr wrap="square" lIns="0" tIns="0" rIns="0" bIns="0" rtlCol="0" anchor="ctr"/>
          <a:lstStyle/>
          <a:p>
            <a:pPr indent="0" marL="0">
              <a:buNone/>
            </a:pPr>
            <a:r>
              <a:rPr lang="en-US" sz="950" dirty="0">
                <a:solidFill>
                  <a:srgbClr val="0F172A"/>
                </a:solidFill>
                <a:latin typeface="Calibri" pitchFamily="34" charset="0"/>
                <a:ea typeface="Calibri" pitchFamily="34" charset="-122"/>
                <a:cs typeface="Calibri" pitchFamily="34" charset="-120"/>
              </a:rPr>
              <a:t>The training notebook. Run this once to train the model and generate the .pkl file. You do not need to run it again unless you retrain.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6400800" y="2743200"/>
            <a:ext cx="3840480" cy="3840480"/>
          </a:xfrm>
          <a:prstGeom prst="ellipse">
            <a:avLst/>
          </a:prstGeom>
          <a:solidFill>
            <a:srgbClr val="FFFFFF">
              <a:alpha val="4000"/>
            </a:srgbClr>
          </a:solidFill>
          <a:ln w="12700">
            <a:solidFill>
              <a:srgbClr val="FFFFFF">
                <a:alpha val="4000"/>
              </a:srgbClr>
            </a:solidFill>
            <a:prstDash val="solid"/>
          </a:ln>
        </p:spPr>
      </p:sp>
      <p:sp>
        <p:nvSpPr>
          <p:cNvPr id="4" name="Text 2"/>
          <p:cNvSpPr/>
          <p:nvPr/>
        </p:nvSpPr>
        <p:spPr>
          <a:xfrm>
            <a:off x="420624" y="411480"/>
            <a:ext cx="822960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5" name="Shape 3"/>
          <p:cNvSpPr/>
          <p:nvPr/>
        </p:nvSpPr>
        <p:spPr>
          <a:xfrm>
            <a:off x="420624" y="1280160"/>
            <a:ext cx="310896" cy="310896"/>
          </a:xfrm>
          <a:prstGeom prst="ellipse">
            <a:avLst/>
          </a:prstGeom>
          <a:solidFill>
            <a:srgbClr val="0D9488"/>
          </a:solidFill>
          <a:ln w="12700">
            <a:solidFill>
              <a:srgbClr val="0D9488"/>
            </a:solidFill>
            <a:prstDash val="solid"/>
          </a:ln>
        </p:spPr>
      </p:sp>
      <p:sp>
        <p:nvSpPr>
          <p:cNvPr id="6" name="Text 4"/>
          <p:cNvSpPr/>
          <p:nvPr/>
        </p:nvSpPr>
        <p:spPr>
          <a:xfrm>
            <a:off x="420624" y="128016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877824" y="1188720"/>
            <a:ext cx="7863840" cy="310896"/>
          </a:xfrm>
          <a:prstGeom prst="rect">
            <a:avLst/>
          </a:prstGeom>
          <a:noFill/>
          <a:ln/>
        </p:spPr>
        <p:txBody>
          <a:bodyPr wrap="square" lIns="0" tIns="0" rIns="0" bIns="0" rtlCol="0" anchor="ctr"/>
          <a:lstStyle/>
          <a:p>
            <a:pPr indent="0" marL="0">
              <a:buNone/>
            </a:pPr>
            <a:r>
              <a:rPr lang="en-US" sz="1100" b="1" dirty="0">
                <a:solidFill>
                  <a:srgbClr val="CCFBF1"/>
                </a:solidFill>
                <a:latin typeface="Calibri" pitchFamily="34" charset="0"/>
                <a:ea typeface="Calibri" pitchFamily="34" charset="-122"/>
                <a:cs typeface="Calibri" pitchFamily="34" charset="-120"/>
              </a:rPr>
              <a:t>Deployment gives your model a front door.</a:t>
            </a:r>
            <a:endParaRPr lang="en-US" sz="1100" dirty="0"/>
          </a:p>
        </p:txBody>
      </p:sp>
      <p:sp>
        <p:nvSpPr>
          <p:cNvPr id="8" name="Text 6"/>
          <p:cNvSpPr/>
          <p:nvPr/>
        </p:nvSpPr>
        <p:spPr>
          <a:xfrm>
            <a:off x="877824" y="1499616"/>
            <a:ext cx="7863840" cy="402336"/>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Without it only a data scientist running a notebook can use the model. After deployment, anyone with a browser can use it.</a:t>
            </a:r>
            <a:endParaRPr lang="en-US" sz="950" dirty="0"/>
          </a:p>
        </p:txBody>
      </p:sp>
      <p:sp>
        <p:nvSpPr>
          <p:cNvPr id="9" name="Shape 7"/>
          <p:cNvSpPr/>
          <p:nvPr/>
        </p:nvSpPr>
        <p:spPr>
          <a:xfrm>
            <a:off x="420624" y="2029968"/>
            <a:ext cx="310896" cy="310896"/>
          </a:xfrm>
          <a:prstGeom prst="ellipse">
            <a:avLst/>
          </a:prstGeom>
          <a:solidFill>
            <a:srgbClr val="0D9488"/>
          </a:solidFill>
          <a:ln w="12700">
            <a:solidFill>
              <a:srgbClr val="0D9488"/>
            </a:solidFill>
            <a:prstDash val="solid"/>
          </a:ln>
        </p:spPr>
      </p:sp>
      <p:sp>
        <p:nvSpPr>
          <p:cNvPr id="10" name="Text 8"/>
          <p:cNvSpPr/>
          <p:nvPr/>
        </p:nvSpPr>
        <p:spPr>
          <a:xfrm>
            <a:off x="420624" y="20299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877824" y="1938528"/>
            <a:ext cx="7863840" cy="310896"/>
          </a:xfrm>
          <a:prstGeom prst="rect">
            <a:avLst/>
          </a:prstGeom>
          <a:noFill/>
          <a:ln/>
        </p:spPr>
        <p:txBody>
          <a:bodyPr wrap="square" lIns="0" tIns="0" rIns="0" bIns="0" rtlCol="0" anchor="ctr"/>
          <a:lstStyle/>
          <a:p>
            <a:pPr indent="0" marL="0">
              <a:buNone/>
            </a:pPr>
            <a:r>
              <a:rPr lang="en-US" sz="1100" b="1" dirty="0">
                <a:solidFill>
                  <a:srgbClr val="CCFBF1"/>
                </a:solidFill>
                <a:latin typeface="Calibri" pitchFamily="34" charset="0"/>
                <a:ea typeface="Calibri" pitchFamily="34" charset="-122"/>
                <a:cs typeface="Calibri" pitchFamily="34" charset="-120"/>
              </a:rPr>
              <a:t>Start with app_simple.py before app_credit_risk.py.</a:t>
            </a:r>
            <a:endParaRPr lang="en-US" sz="1100" dirty="0"/>
          </a:p>
        </p:txBody>
      </p:sp>
      <p:sp>
        <p:nvSpPr>
          <p:cNvPr id="12" name="Text 10"/>
          <p:cNvSpPr/>
          <p:nvPr/>
        </p:nvSpPr>
        <p:spPr>
          <a:xfrm>
            <a:off x="877824" y="2249424"/>
            <a:ext cx="7863840" cy="402336"/>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The calculator teaches every Streamlit concept — title, inputs, selectbox, button, success/error. The credit risk app is the exact same structure with a model behind it.</a:t>
            </a:r>
            <a:endParaRPr lang="en-US" sz="950" dirty="0"/>
          </a:p>
        </p:txBody>
      </p:sp>
      <p:sp>
        <p:nvSpPr>
          <p:cNvPr id="13" name="Shape 11"/>
          <p:cNvSpPr/>
          <p:nvPr/>
        </p:nvSpPr>
        <p:spPr>
          <a:xfrm>
            <a:off x="420624" y="2779776"/>
            <a:ext cx="310896" cy="310896"/>
          </a:xfrm>
          <a:prstGeom prst="ellipse">
            <a:avLst/>
          </a:prstGeom>
          <a:solidFill>
            <a:srgbClr val="0D9488"/>
          </a:solidFill>
          <a:ln w="12700">
            <a:solidFill>
              <a:srgbClr val="0D9488"/>
            </a:solidFill>
            <a:prstDash val="solid"/>
          </a:ln>
        </p:spPr>
      </p:sp>
      <p:sp>
        <p:nvSpPr>
          <p:cNvPr id="14" name="Text 12"/>
          <p:cNvSpPr/>
          <p:nvPr/>
        </p:nvSpPr>
        <p:spPr>
          <a:xfrm>
            <a:off x="420624" y="277977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877824" y="2688336"/>
            <a:ext cx="7863840" cy="310896"/>
          </a:xfrm>
          <a:prstGeom prst="rect">
            <a:avLst/>
          </a:prstGeom>
          <a:noFill/>
          <a:ln/>
        </p:spPr>
        <p:txBody>
          <a:bodyPr wrap="square" lIns="0" tIns="0" rIns="0" bIns="0" rtlCol="0" anchor="ctr"/>
          <a:lstStyle/>
          <a:p>
            <a:pPr indent="0" marL="0">
              <a:buNone/>
            </a:pPr>
            <a:r>
              <a:rPr lang="en-US" sz="1100" b="1" dirty="0">
                <a:solidFill>
                  <a:srgbClr val="CCFBF1"/>
                </a:solidFill>
                <a:latin typeface="Calibri" pitchFamily="34" charset="0"/>
                <a:ea typeface="Calibri" pitchFamily="34" charset="-122"/>
                <a:cs typeface="Calibri" pitchFamily="34" charset="-120"/>
              </a:rPr>
              <a:t>joblib saves and loads the entire pipeline.</a:t>
            </a:r>
            <a:endParaRPr lang="en-US" sz="1100" dirty="0"/>
          </a:p>
        </p:txBody>
      </p:sp>
      <p:sp>
        <p:nvSpPr>
          <p:cNvPr id="16" name="Text 14"/>
          <p:cNvSpPr/>
          <p:nvPr/>
        </p:nvSpPr>
        <p:spPr>
          <a:xfrm>
            <a:off x="877824" y="2999232"/>
            <a:ext cx="7863840" cy="402336"/>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One .pkl file contains every step: OutlierCapper, Imputer, SkewnessTransformer, Scaler, and Model. The app loads it once and uses it for every prediction.</a:t>
            </a:r>
            <a:endParaRPr lang="en-US" sz="950" dirty="0"/>
          </a:p>
        </p:txBody>
      </p:sp>
      <p:sp>
        <p:nvSpPr>
          <p:cNvPr id="17" name="Shape 15"/>
          <p:cNvSpPr/>
          <p:nvPr/>
        </p:nvSpPr>
        <p:spPr>
          <a:xfrm>
            <a:off x="420624" y="3529584"/>
            <a:ext cx="310896" cy="310896"/>
          </a:xfrm>
          <a:prstGeom prst="ellipse">
            <a:avLst/>
          </a:prstGeom>
          <a:solidFill>
            <a:srgbClr val="0D9488"/>
          </a:solidFill>
          <a:ln w="12700">
            <a:solidFill>
              <a:srgbClr val="0D9488"/>
            </a:solidFill>
            <a:prstDash val="solid"/>
          </a:ln>
        </p:spPr>
      </p:sp>
      <p:sp>
        <p:nvSpPr>
          <p:cNvPr id="18" name="Text 16"/>
          <p:cNvSpPr/>
          <p:nvPr/>
        </p:nvSpPr>
        <p:spPr>
          <a:xfrm>
            <a:off x="420624" y="352958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877824" y="3438144"/>
            <a:ext cx="7863840" cy="310896"/>
          </a:xfrm>
          <a:prstGeom prst="rect">
            <a:avLst/>
          </a:prstGeom>
          <a:noFill/>
          <a:ln/>
        </p:spPr>
        <p:txBody>
          <a:bodyPr wrap="square" lIns="0" tIns="0" rIns="0" bIns="0" rtlCol="0" anchor="ctr"/>
          <a:lstStyle/>
          <a:p>
            <a:pPr indent="0" marL="0">
              <a:buNone/>
            </a:pPr>
            <a:r>
              <a:rPr lang="en-US" sz="1100" b="1" dirty="0">
                <a:solidFill>
                  <a:srgbClr val="CCFBF1"/>
                </a:solidFill>
                <a:latin typeface="Calibri" pitchFamily="34" charset="0"/>
                <a:ea typeface="Calibri" pitchFamily="34" charset="-122"/>
                <a:cs typeface="Calibri" pitchFamily="34" charset="-120"/>
              </a:rPr>
              <a:t>Feature engineering must be repeated in the app.</a:t>
            </a:r>
            <a:endParaRPr lang="en-US" sz="1100" dirty="0"/>
          </a:p>
        </p:txBody>
      </p:sp>
      <p:sp>
        <p:nvSpPr>
          <p:cNvPr id="20" name="Text 18"/>
          <p:cNvSpPr/>
          <p:nvPr/>
        </p:nvSpPr>
        <p:spPr>
          <a:xfrm>
            <a:off x="877824" y="3749040"/>
            <a:ext cx="7863840" cy="402336"/>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delq_severity_score and has_any_delq were built before fit() in the notebook. They must be computed identically in the app before calling predict_proba().</a:t>
            </a:r>
            <a:endParaRPr lang="en-US" sz="950" dirty="0"/>
          </a:p>
        </p:txBody>
      </p:sp>
      <p:sp>
        <p:nvSpPr>
          <p:cNvPr id="21" name="Shape 19"/>
          <p:cNvSpPr/>
          <p:nvPr/>
        </p:nvSpPr>
        <p:spPr>
          <a:xfrm>
            <a:off x="420624" y="4279392"/>
            <a:ext cx="310896" cy="310896"/>
          </a:xfrm>
          <a:prstGeom prst="ellipse">
            <a:avLst/>
          </a:prstGeom>
          <a:solidFill>
            <a:srgbClr val="0D9488"/>
          </a:solidFill>
          <a:ln w="12700">
            <a:solidFill>
              <a:srgbClr val="0D9488"/>
            </a:solidFill>
            <a:prstDash val="solid"/>
          </a:ln>
        </p:spPr>
      </p:sp>
      <p:sp>
        <p:nvSpPr>
          <p:cNvPr id="22" name="Text 20"/>
          <p:cNvSpPr/>
          <p:nvPr/>
        </p:nvSpPr>
        <p:spPr>
          <a:xfrm>
            <a:off x="420624" y="42793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877824" y="4187952"/>
            <a:ext cx="7863840" cy="310896"/>
          </a:xfrm>
          <a:prstGeom prst="rect">
            <a:avLst/>
          </a:prstGeom>
          <a:noFill/>
          <a:ln/>
        </p:spPr>
        <p:txBody>
          <a:bodyPr wrap="square" lIns="0" tIns="0" rIns="0" bIns="0" rtlCol="0" anchor="ctr"/>
          <a:lstStyle/>
          <a:p>
            <a:pPr indent="0" marL="0">
              <a:buNone/>
            </a:pPr>
            <a:r>
              <a:rPr lang="en-US" sz="1100" b="1" dirty="0">
                <a:solidFill>
                  <a:srgbClr val="CCFBF1"/>
                </a:solidFill>
                <a:latin typeface="Calibri" pitchFamily="34" charset="0"/>
                <a:ea typeface="Calibri" pitchFamily="34" charset="-122"/>
                <a:cs typeface="Calibri" pitchFamily="34" charset="-120"/>
              </a:rPr>
              <a:t>The three commands you need.</a:t>
            </a:r>
            <a:endParaRPr lang="en-US" sz="1100" dirty="0"/>
          </a:p>
        </p:txBody>
      </p:sp>
      <p:sp>
        <p:nvSpPr>
          <p:cNvPr id="24" name="Text 22"/>
          <p:cNvSpPr/>
          <p:nvPr/>
        </p:nvSpPr>
        <p:spPr>
          <a:xfrm>
            <a:off x="877824" y="4498848"/>
            <a:ext cx="7863840" cy="402336"/>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pip install streamlit   →   streamlit run app.py   →   Ctrl+C to stop. That is the full workflow.</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2026-03-09T12:36:34Z</dcterms:created>
  <dcterms:modified xsi:type="dcterms:W3CDTF">2026-03-09T12:36:34Z</dcterms:modified>
</cp:coreProperties>
</file>